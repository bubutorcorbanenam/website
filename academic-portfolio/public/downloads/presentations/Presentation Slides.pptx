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0"/>
  </p:notesMasterIdLst>
  <p:sldIdLst>
    <p:sldId id="257" r:id="rId2"/>
    <p:sldId id="258"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118" d="100"/>
          <a:sy n="118" d="100"/>
        </p:scale>
        <p:origin x="31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a:solidFill>
                  <a:schemeClr val="bg1"/>
                </a:solidFill>
              </a:defRPr>
            </a:pPr>
            <a:r>
              <a:rPr lang="en-US" dirty="0">
                <a:solidFill>
                  <a:schemeClr val="bg1"/>
                </a:solidFill>
              </a:rPr>
              <a:t>Annual Publication Output (2015–2025)</a:t>
            </a:r>
          </a:p>
        </c:rich>
      </c:tx>
      <c:overlay val="0"/>
    </c:title>
    <c:autoTitleDeleted val="0"/>
    <c:plotArea>
      <c:layout/>
      <c:barChart>
        <c:barDir val="col"/>
        <c:grouping val="clustered"/>
        <c:varyColors val="0"/>
        <c:ser>
          <c:idx val="0"/>
          <c:order val="0"/>
          <c:tx>
            <c:strRef>
              <c:f>Sheet1!$B$1</c:f>
              <c:strCache>
                <c:ptCount val="1"/>
                <c:pt idx="0">
                  <c:v>Publications</c:v>
                </c:pt>
              </c:strCache>
            </c:strRef>
          </c:tx>
          <c:spPr>
            <a:solidFill>
              <a:srgbClr val="1B3A6B"/>
            </a:solidFill>
            <a:effectLst/>
          </c:spPr>
          <c:invertIfNegative val="0"/>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Sheet1!$B$2:$B$12</c:f>
              <c:numCache>
                <c:formatCode>General</c:formatCode>
                <c:ptCount val="11"/>
                <c:pt idx="0">
                  <c:v>516</c:v>
                </c:pt>
                <c:pt idx="1">
                  <c:v>680</c:v>
                </c:pt>
                <c:pt idx="2">
                  <c:v>820</c:v>
                </c:pt>
                <c:pt idx="3">
                  <c:v>1050</c:v>
                </c:pt>
                <c:pt idx="4">
                  <c:v>1320</c:v>
                </c:pt>
                <c:pt idx="5">
                  <c:v>1600</c:v>
                </c:pt>
                <c:pt idx="6">
                  <c:v>2100</c:v>
                </c:pt>
                <c:pt idx="7">
                  <c:v>2800</c:v>
                </c:pt>
                <c:pt idx="8">
                  <c:v>3600</c:v>
                </c:pt>
                <c:pt idx="9">
                  <c:v>4200</c:v>
                </c:pt>
                <c:pt idx="10">
                  <c:v>4683</c:v>
                </c:pt>
              </c:numCache>
            </c:numRef>
          </c:val>
          <c:extLst>
            <c:ext xmlns:c16="http://schemas.microsoft.com/office/drawing/2014/chart" uri="{C3380CC4-5D6E-409C-BE32-E72D297353CC}">
              <c16:uniqueId val="{00000000-F0DB-415C-B0B5-ED812CA0899B}"/>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a:solidFill>
                  <a:schemeClr val="bg1"/>
                </a:solidFil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C5CF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a:solidFill>
                  <a:schemeClr val="bg1"/>
                </a:solidFil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6FB"/>
    </a:solidFill>
    <a:ln>
      <a:noFill/>
    </a:ln>
    <a:effectLst/>
  </c:spPr>
  <c:txPr>
    <a:bodyPr/>
    <a:lstStyle/>
    <a:p>
      <a:pPr>
        <a:defRPr sz="105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a:pPr>
            <a:r>
              <a:rPr lang="en-US"/>
              <a:t>Local H-Index: Top Journals</a:t>
            </a:r>
          </a:p>
        </c:rich>
      </c:tx>
      <c:overlay val="0"/>
    </c:title>
    <c:autoTitleDeleted val="0"/>
    <c:plotArea>
      <c:layout/>
      <c:barChart>
        <c:barDir val="bar"/>
        <c:grouping val="clustered"/>
        <c:varyColors val="0"/>
        <c:ser>
          <c:idx val="0"/>
          <c:order val="0"/>
          <c:tx>
            <c:strRef>
              <c:f>Sheet1!$B$1</c:f>
              <c:strCache>
                <c:ptCount val="1"/>
                <c:pt idx="0">
                  <c:v>H-Index</c:v>
                </c:pt>
              </c:strCache>
            </c:strRef>
          </c:tx>
          <c:spPr>
            <a:solidFill>
              <a:srgbClr val="2B5FA8"/>
            </a:solidFill>
            <a:effectLst/>
          </c:spPr>
          <c:invertIfNegative val="0"/>
          <c:dLbls>
            <c:numFmt formatCode="#,##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Agric. Systems</c:v>
                </c:pt>
                <c:pt idx="1">
                  <c:v>Food Security</c:v>
                </c:pt>
                <c:pt idx="2">
                  <c:v>Global Food Sec.</c:v>
                </c:pt>
                <c:pt idx="3">
                  <c:v>Env. Res. Letters</c:v>
                </c:pt>
                <c:pt idx="4">
                  <c:v>J. Cleaner Prod.</c:v>
                </c:pt>
                <c:pt idx="5">
                  <c:v>Sustainability</c:v>
                </c:pt>
                <c:pt idx="6">
                  <c:v>Sci. Total Environ.</c:v>
                </c:pt>
              </c:strCache>
            </c:strRef>
          </c:cat>
          <c:val>
            <c:numRef>
              <c:f>Sheet1!$B$2:$B$8</c:f>
              <c:numCache>
                <c:formatCode>General</c:formatCode>
                <c:ptCount val="7"/>
                <c:pt idx="0">
                  <c:v>43</c:v>
                </c:pt>
                <c:pt idx="1">
                  <c:v>44</c:v>
                </c:pt>
                <c:pt idx="2">
                  <c:v>45</c:v>
                </c:pt>
                <c:pt idx="3">
                  <c:v>46</c:v>
                </c:pt>
                <c:pt idx="4">
                  <c:v>50</c:v>
                </c:pt>
                <c:pt idx="5">
                  <c:v>65</c:v>
                </c:pt>
                <c:pt idx="6">
                  <c:v>72</c:v>
                </c:pt>
              </c:numCache>
            </c:numRef>
          </c:val>
          <c:extLst>
            <c:ext xmlns:c16="http://schemas.microsoft.com/office/drawing/2014/chart" uri="{C3380CC4-5D6E-409C-BE32-E72D297353CC}">
              <c16:uniqueId val="{00000000-D61D-4D42-A1F2-42643088735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crossAx val="2094734552"/>
        <c:crosses val="autoZero"/>
        <c:auto val="1"/>
        <c:lblAlgn val="ctr"/>
        <c:lblOffset val="100"/>
        <c:noMultiLvlLbl val="1"/>
      </c:catAx>
      <c:valAx>
        <c:axId val="2094734552"/>
        <c:scaling>
          <c:orientation val="minMax"/>
        </c:scaling>
        <c:delete val="0"/>
        <c:axPos val="b"/>
        <c:majorGridlines>
          <c:spPr>
            <a:ln w="6350" cap="flat">
              <a:solidFill>
                <a:srgbClr val="1A2F50"/>
              </a:solidFill>
              <a:prstDash val="solid"/>
              <a:round/>
            </a:ln>
          </c:spPr>
        </c:majorGridlines>
        <c:numFmt formatCode="General" sourceLinked="0"/>
        <c:majorTickMark val="out"/>
        <c:minorTickMark val="none"/>
        <c:tickLblPos val="low"/>
        <c:spPr>
          <a:ln w="12700" cap="flat">
            <a:solidFill>
              <a:srgbClr val="888888"/>
            </a:solidFill>
            <a:prstDash val="solid"/>
            <a:round/>
          </a:ln>
        </c:spPr>
        <c:crossAx val="2094734554"/>
        <c:crosses val="autoZero"/>
        <c:crossBetween val="between"/>
      </c:valAx>
      <c:spPr>
        <a:noFill/>
        <a:ln>
          <a:noFill/>
        </a:ln>
        <a:effectLst/>
      </c:spPr>
    </c:plotArea>
    <c:plotVisOnly val="1"/>
    <c:dispBlanksAs val="span"/>
    <c:showDLblsOverMax val="1"/>
  </c:chart>
  <c:spPr>
    <a:solidFill>
      <a:srgbClr val="122952"/>
    </a:solidFill>
    <a:ln>
      <a:noFill/>
    </a:ln>
    <a:effectLst/>
  </c:spPr>
  <c:txPr>
    <a:bodyPr/>
    <a:lstStyle/>
    <a:p>
      <a:pPr>
        <a:defRPr sz="1200">
          <a:solidFill>
            <a:schemeClr val="tx1"/>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0BFD6E-0004-4B7C-AA36-38AF738A3843}" type="datetimeFigureOut">
              <a:rPr lang="en-US" smtClean="0"/>
              <a:t>6/26/2026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A72AFA-A48C-4EAA-A5C6-D8C8C707DF54}" type="slidenum">
              <a:rPr lang="en-US" smtClean="0"/>
              <a:t>‹#›</a:t>
            </a:fld>
            <a:endParaRPr lang="en-US"/>
          </a:p>
        </p:txBody>
      </p:sp>
    </p:spTree>
    <p:extLst>
      <p:ext uri="{BB962C8B-B14F-4D97-AF65-F5344CB8AC3E}">
        <p14:creationId xmlns:p14="http://schemas.microsoft.com/office/powerpoint/2010/main" val="1098150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produces the most research in this field globally — more papers than any other country. But when you look at how often that research gets cited and built upon by others, it ranks near the bottom of the major contributors. That's not a quality problem — it's a structural one. Much of that research stays within domestic networks rather than reaching international collaborators and high-impact journals. And that's exactly what Recommendation 4 in my paper is trying to fix.</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Multidisciplinary Digital Publishing Institute.</a:t>
            </a:r>
          </a:p>
          <a:p>
            <a:r>
              <a:rPr lang="en-US" dirty="0"/>
              <a:t>Savary = the threat to food supply (pests/disease) </a:t>
            </a:r>
          </a:p>
          <a:p>
            <a:r>
              <a:rPr lang="en-US" dirty="0"/>
              <a:t>Griscom = a climate solution that has to coexist with food production </a:t>
            </a:r>
          </a:p>
          <a:p>
            <a:r>
              <a:rPr lang="en-US" dirty="0"/>
              <a:t>Zhang = the resource (nitrogen) that drives yields but also drives environmental harm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67CC49-9AB1-4FE2-991F-5A89EB93533A}"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6A7481-1739-48D1-8C45-34E2F081A948}" type="slidenum">
              <a:rPr lang="en-US" smtClean="0"/>
              <a:t>‹#›</a:t>
            </a:fld>
            <a:endParaRPr lang="en-US"/>
          </a:p>
        </p:txBody>
      </p:sp>
    </p:spTree>
    <p:extLst>
      <p:ext uri="{BB962C8B-B14F-4D97-AF65-F5344CB8AC3E}">
        <p14:creationId xmlns:p14="http://schemas.microsoft.com/office/powerpoint/2010/main" val="1076457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67CC49-9AB1-4FE2-991F-5A89EB93533A}"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6A7481-1739-48D1-8C45-34E2F081A948}" type="slidenum">
              <a:rPr lang="en-US" smtClean="0"/>
              <a:t>‹#›</a:t>
            </a:fld>
            <a:endParaRPr lang="en-US"/>
          </a:p>
        </p:txBody>
      </p:sp>
    </p:spTree>
    <p:extLst>
      <p:ext uri="{BB962C8B-B14F-4D97-AF65-F5344CB8AC3E}">
        <p14:creationId xmlns:p14="http://schemas.microsoft.com/office/powerpoint/2010/main" val="2430154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67CC49-9AB1-4FE2-991F-5A89EB93533A}"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6A7481-1739-48D1-8C45-34E2F081A948}" type="slidenum">
              <a:rPr lang="en-US" smtClean="0"/>
              <a:t>‹#›</a:t>
            </a:fld>
            <a:endParaRPr lang="en-US"/>
          </a:p>
        </p:txBody>
      </p:sp>
    </p:spTree>
    <p:extLst>
      <p:ext uri="{BB962C8B-B14F-4D97-AF65-F5344CB8AC3E}">
        <p14:creationId xmlns:p14="http://schemas.microsoft.com/office/powerpoint/2010/main" val="2017021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67CC49-9AB1-4FE2-991F-5A89EB93533A}"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6A7481-1739-48D1-8C45-34E2F081A948}" type="slidenum">
              <a:rPr lang="en-US" smtClean="0"/>
              <a:t>‹#›</a:t>
            </a:fld>
            <a:endParaRPr lang="en-US"/>
          </a:p>
        </p:txBody>
      </p:sp>
    </p:spTree>
    <p:extLst>
      <p:ext uri="{BB962C8B-B14F-4D97-AF65-F5344CB8AC3E}">
        <p14:creationId xmlns:p14="http://schemas.microsoft.com/office/powerpoint/2010/main" val="2042560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67CC49-9AB1-4FE2-991F-5A89EB93533A}" type="datetimeFigureOut">
              <a:rPr lang="en-US" smtClean="0"/>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6A7481-1739-48D1-8C45-34E2F081A948}" type="slidenum">
              <a:rPr lang="en-US" smtClean="0"/>
              <a:t>‹#›</a:t>
            </a:fld>
            <a:endParaRPr lang="en-US"/>
          </a:p>
        </p:txBody>
      </p:sp>
    </p:spTree>
    <p:extLst>
      <p:ext uri="{BB962C8B-B14F-4D97-AF65-F5344CB8AC3E}">
        <p14:creationId xmlns:p14="http://schemas.microsoft.com/office/powerpoint/2010/main" val="2026734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67CC49-9AB1-4FE2-991F-5A89EB93533A}" type="datetimeFigureOut">
              <a:rPr lang="en-US" smtClean="0"/>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6A7481-1739-48D1-8C45-34E2F081A948}" type="slidenum">
              <a:rPr lang="en-US" smtClean="0"/>
              <a:t>‹#›</a:t>
            </a:fld>
            <a:endParaRPr lang="en-US"/>
          </a:p>
        </p:txBody>
      </p:sp>
    </p:spTree>
    <p:extLst>
      <p:ext uri="{BB962C8B-B14F-4D97-AF65-F5344CB8AC3E}">
        <p14:creationId xmlns:p14="http://schemas.microsoft.com/office/powerpoint/2010/main" val="749066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67CC49-9AB1-4FE2-991F-5A89EB93533A}" type="datetimeFigureOut">
              <a:rPr lang="en-US" smtClean="0"/>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6A7481-1739-48D1-8C45-34E2F081A948}" type="slidenum">
              <a:rPr lang="en-US" smtClean="0"/>
              <a:t>‹#›</a:t>
            </a:fld>
            <a:endParaRPr lang="en-US"/>
          </a:p>
        </p:txBody>
      </p:sp>
    </p:spTree>
    <p:extLst>
      <p:ext uri="{BB962C8B-B14F-4D97-AF65-F5344CB8AC3E}">
        <p14:creationId xmlns:p14="http://schemas.microsoft.com/office/powerpoint/2010/main" val="3483410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67CC49-9AB1-4FE2-991F-5A89EB93533A}"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6A7481-1739-48D1-8C45-34E2F081A948}" type="slidenum">
              <a:rPr lang="en-US" smtClean="0"/>
              <a:t>‹#›</a:t>
            </a:fld>
            <a:endParaRPr lang="en-US"/>
          </a:p>
        </p:txBody>
      </p:sp>
    </p:spTree>
    <p:extLst>
      <p:ext uri="{BB962C8B-B14F-4D97-AF65-F5344CB8AC3E}">
        <p14:creationId xmlns:p14="http://schemas.microsoft.com/office/powerpoint/2010/main" val="3406639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67CC49-9AB1-4FE2-991F-5A89EB93533A}"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6A7481-1739-48D1-8C45-34E2F081A948}" type="slidenum">
              <a:rPr lang="en-US" smtClean="0"/>
              <a:t>‹#›</a:t>
            </a:fld>
            <a:endParaRPr lang="en-US"/>
          </a:p>
        </p:txBody>
      </p:sp>
    </p:spTree>
    <p:extLst>
      <p:ext uri="{BB962C8B-B14F-4D97-AF65-F5344CB8AC3E}">
        <p14:creationId xmlns:p14="http://schemas.microsoft.com/office/powerpoint/2010/main" val="3700147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67CC49-9AB1-4FE2-991F-5A89EB93533A}"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6A7481-1739-48D1-8C45-34E2F081A948}" type="slidenum">
              <a:rPr lang="en-US" smtClean="0"/>
              <a:t>‹#›</a:t>
            </a:fld>
            <a:endParaRPr lang="en-US"/>
          </a:p>
        </p:txBody>
      </p:sp>
    </p:spTree>
    <p:extLst>
      <p:ext uri="{BB962C8B-B14F-4D97-AF65-F5344CB8AC3E}">
        <p14:creationId xmlns:p14="http://schemas.microsoft.com/office/powerpoint/2010/main" val="14606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67CC49-9AB1-4FE2-991F-5A89EB93533A}"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6A7481-1739-48D1-8C45-34E2F081A948}" type="slidenum">
              <a:rPr lang="en-US" smtClean="0"/>
              <a:t>‹#›</a:t>
            </a:fld>
            <a:endParaRPr lang="en-US"/>
          </a:p>
        </p:txBody>
      </p:sp>
    </p:spTree>
    <p:extLst>
      <p:ext uri="{BB962C8B-B14F-4D97-AF65-F5344CB8AC3E}">
        <p14:creationId xmlns:p14="http://schemas.microsoft.com/office/powerpoint/2010/main" val="1569781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1295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2467CC49-9AB1-4FE2-991F-5A89EB93533A}" type="datetimeFigureOut">
              <a:rPr lang="en-US" smtClean="0"/>
              <a:t>6/26/2026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736A7481-1739-48D1-8C45-34E2F081A948}" type="slidenum">
              <a:rPr lang="en-US" smtClean="0"/>
              <a:t>‹#›</a:t>
            </a:fld>
            <a:endParaRPr lang="en-US"/>
          </a:p>
        </p:txBody>
      </p:sp>
    </p:spTree>
    <p:extLst>
      <p:ext uri="{BB962C8B-B14F-4D97-AF65-F5344CB8AC3E}">
        <p14:creationId xmlns:p14="http://schemas.microsoft.com/office/powerpoint/2010/main" val="2474366580"/>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096011"/>
            <a:ext cx="12192000" cy="1737360"/>
          </a:xfrm>
          <a:prstGeom prst="rect">
            <a:avLst/>
          </a:prstGeom>
          <a:solidFill>
            <a:srgbClr val="0D2147"/>
          </a:solidFill>
          <a:ln w="12700">
            <a:solidFill>
              <a:srgbClr val="0D2147"/>
            </a:solidFill>
            <a:prstDash val="solid"/>
          </a:ln>
        </p:spPr>
        <p:txBody>
          <a:bodyPr/>
          <a:lstStyle/>
          <a:p>
            <a:endParaRPr lang="en-US" sz="2400"/>
          </a:p>
        </p:txBody>
      </p:sp>
      <p:sp>
        <p:nvSpPr>
          <p:cNvPr id="6" name="Shape 4"/>
          <p:cNvSpPr/>
          <p:nvPr/>
        </p:nvSpPr>
        <p:spPr>
          <a:xfrm>
            <a:off x="0" y="5632704"/>
            <a:ext cx="12192000" cy="109728"/>
          </a:xfrm>
          <a:prstGeom prst="rect">
            <a:avLst/>
          </a:prstGeom>
          <a:solidFill>
            <a:srgbClr val="1A7AB5">
              <a:alpha val="50000"/>
            </a:srgbClr>
          </a:solidFill>
          <a:ln w="12700">
            <a:solidFill>
              <a:srgbClr val="1A7AB5">
                <a:alpha val="50000"/>
              </a:srgbClr>
            </a:solidFill>
            <a:prstDash val="solid"/>
          </a:ln>
        </p:spPr>
        <p:txBody>
          <a:bodyPr/>
          <a:lstStyle/>
          <a:p>
            <a:endParaRPr lang="en-US" sz="2400"/>
          </a:p>
        </p:txBody>
      </p:sp>
      <p:sp>
        <p:nvSpPr>
          <p:cNvPr id="7" name="Shape 5"/>
          <p:cNvSpPr/>
          <p:nvPr/>
        </p:nvSpPr>
        <p:spPr>
          <a:xfrm>
            <a:off x="0" y="5766816"/>
            <a:ext cx="12192000" cy="97536"/>
          </a:xfrm>
          <a:prstGeom prst="rect">
            <a:avLst/>
          </a:prstGeom>
          <a:solidFill>
            <a:srgbClr val="1A5F8C">
              <a:alpha val="60000"/>
            </a:srgbClr>
          </a:solidFill>
          <a:ln w="12700">
            <a:solidFill>
              <a:srgbClr val="1A5F8C">
                <a:alpha val="60000"/>
              </a:srgbClr>
            </a:solidFill>
            <a:prstDash val="solid"/>
          </a:ln>
        </p:spPr>
        <p:txBody>
          <a:bodyPr/>
          <a:lstStyle/>
          <a:p>
            <a:endParaRPr lang="en-US" sz="2400"/>
          </a:p>
        </p:txBody>
      </p:sp>
      <p:sp>
        <p:nvSpPr>
          <p:cNvPr id="8" name="Shape 6"/>
          <p:cNvSpPr/>
          <p:nvPr/>
        </p:nvSpPr>
        <p:spPr>
          <a:xfrm>
            <a:off x="0" y="0"/>
            <a:ext cx="85344" cy="5120640"/>
          </a:xfrm>
          <a:prstGeom prst="rect">
            <a:avLst/>
          </a:prstGeom>
          <a:solidFill>
            <a:srgbClr val="E8B400"/>
          </a:solidFill>
          <a:ln w="12700">
            <a:solidFill>
              <a:srgbClr val="E8B400"/>
            </a:solidFill>
            <a:prstDash val="solid"/>
          </a:ln>
        </p:spPr>
        <p:txBody>
          <a:bodyPr/>
          <a:lstStyle/>
          <a:p>
            <a:endParaRPr lang="en-US" sz="2400"/>
          </a:p>
        </p:txBody>
      </p:sp>
      <p:sp>
        <p:nvSpPr>
          <p:cNvPr id="9" name="Shape 7"/>
          <p:cNvSpPr/>
          <p:nvPr/>
        </p:nvSpPr>
        <p:spPr>
          <a:xfrm>
            <a:off x="9144000" y="219456"/>
            <a:ext cx="2804160" cy="512064"/>
          </a:xfrm>
          <a:prstGeom prst="rect">
            <a:avLst/>
          </a:prstGeom>
          <a:solidFill>
            <a:srgbClr val="1B3A6B"/>
          </a:solidFill>
          <a:ln w="15240">
            <a:solidFill>
              <a:srgbClr val="E8B400"/>
            </a:solidFill>
            <a:prstDash val="solid"/>
          </a:ln>
        </p:spPr>
        <p:txBody>
          <a:bodyPr/>
          <a:lstStyle/>
          <a:p>
            <a:endParaRPr lang="en-US" sz="2400"/>
          </a:p>
        </p:txBody>
      </p:sp>
      <p:sp>
        <p:nvSpPr>
          <p:cNvPr id="10" name="Text 8"/>
          <p:cNvSpPr/>
          <p:nvPr/>
        </p:nvSpPr>
        <p:spPr>
          <a:xfrm>
            <a:off x="9144000" y="219456"/>
            <a:ext cx="2804160" cy="512064"/>
          </a:xfrm>
          <a:prstGeom prst="rect">
            <a:avLst/>
          </a:prstGeom>
          <a:noFill/>
          <a:ln/>
        </p:spPr>
        <p:txBody>
          <a:bodyPr wrap="square" rtlCol="0" anchor="ctr"/>
          <a:lstStyle/>
          <a:p>
            <a:pPr algn="ctr"/>
            <a:r>
              <a:rPr lang="en-US" sz="933" b="1" kern="0" spc="133" dirty="0">
                <a:solidFill>
                  <a:srgbClr val="E8B400"/>
                </a:solidFill>
              </a:rPr>
              <a:t>UNIVERSITY OF CAPE COAST</a:t>
            </a:r>
            <a:endParaRPr lang="en-US" sz="933" dirty="0"/>
          </a:p>
        </p:txBody>
      </p:sp>
      <p:sp>
        <p:nvSpPr>
          <p:cNvPr id="11" name="Shape 9"/>
          <p:cNvSpPr/>
          <p:nvPr/>
        </p:nvSpPr>
        <p:spPr>
          <a:xfrm>
            <a:off x="426720" y="268224"/>
            <a:ext cx="8290560" cy="426720"/>
          </a:xfrm>
          <a:prstGeom prst="rect">
            <a:avLst/>
          </a:prstGeom>
          <a:solidFill>
            <a:srgbClr val="0D2147"/>
          </a:solidFill>
          <a:ln w="12700">
            <a:solidFill>
              <a:srgbClr val="1A7AB5"/>
            </a:solidFill>
            <a:prstDash val="solid"/>
          </a:ln>
        </p:spPr>
        <p:txBody>
          <a:bodyPr/>
          <a:lstStyle/>
          <a:p>
            <a:endParaRPr lang="en-US" sz="3200"/>
          </a:p>
        </p:txBody>
      </p:sp>
      <p:sp>
        <p:nvSpPr>
          <p:cNvPr id="12" name="Text 10"/>
          <p:cNvSpPr/>
          <p:nvPr/>
        </p:nvSpPr>
        <p:spPr>
          <a:xfrm>
            <a:off x="426720" y="268224"/>
            <a:ext cx="8290560" cy="426720"/>
          </a:xfrm>
          <a:prstGeom prst="rect">
            <a:avLst/>
          </a:prstGeom>
          <a:noFill/>
          <a:ln/>
        </p:spPr>
        <p:txBody>
          <a:bodyPr wrap="square" rtlCol="0" anchor="ctr"/>
          <a:lstStyle/>
          <a:p>
            <a:pPr algn="ctr"/>
            <a:r>
              <a:rPr lang="en-US" sz="1600" dirty="0">
                <a:solidFill>
                  <a:srgbClr val="5BADD9"/>
                </a:solidFill>
              </a:rPr>
              <a:t>3rd International Student Conference on AI, Data Science &amp; Analytics  •  June 27, 2026</a:t>
            </a:r>
            <a:endParaRPr lang="en-US" sz="1600" dirty="0"/>
          </a:p>
        </p:txBody>
      </p:sp>
      <p:sp>
        <p:nvSpPr>
          <p:cNvPr id="13" name="Text 11"/>
          <p:cNvSpPr/>
          <p:nvPr/>
        </p:nvSpPr>
        <p:spPr>
          <a:xfrm>
            <a:off x="426720" y="877824"/>
            <a:ext cx="11338560" cy="1889760"/>
          </a:xfrm>
          <a:prstGeom prst="rect">
            <a:avLst/>
          </a:prstGeom>
          <a:noFill/>
          <a:ln/>
        </p:spPr>
        <p:txBody>
          <a:bodyPr wrap="square" rtlCol="0" anchor="ctr"/>
          <a:lstStyle/>
          <a:p>
            <a:r>
              <a:rPr lang="en-US" sz="5867" b="1" dirty="0">
                <a:solidFill>
                  <a:srgbClr val="FFFFFF"/>
                </a:solidFill>
                <a:latin typeface="Calibri" pitchFamily="34" charset="0"/>
                <a:ea typeface="Calibri" pitchFamily="34" charset="-122"/>
                <a:cs typeface="Calibri" pitchFamily="34" charset="-120"/>
              </a:rPr>
              <a:t>Towards Resilient</a:t>
            </a:r>
            <a:endParaRPr lang="en-US" sz="5867" dirty="0"/>
          </a:p>
          <a:p>
            <a:r>
              <a:rPr lang="en-US" sz="5867" b="1" dirty="0">
                <a:solidFill>
                  <a:srgbClr val="FFFFFF"/>
                </a:solidFill>
                <a:latin typeface="Calibri" pitchFamily="34" charset="0"/>
                <a:ea typeface="Calibri" pitchFamily="34" charset="-122"/>
                <a:cs typeface="Calibri" pitchFamily="34" charset="-120"/>
              </a:rPr>
              <a:t>Food Systems</a:t>
            </a:r>
            <a:endParaRPr lang="en-US" sz="5867" dirty="0"/>
          </a:p>
        </p:txBody>
      </p:sp>
      <p:sp>
        <p:nvSpPr>
          <p:cNvPr id="14" name="Text 12"/>
          <p:cNvSpPr/>
          <p:nvPr/>
        </p:nvSpPr>
        <p:spPr>
          <a:xfrm>
            <a:off x="426720" y="2779776"/>
            <a:ext cx="10972800" cy="609600"/>
          </a:xfrm>
          <a:prstGeom prst="rect">
            <a:avLst/>
          </a:prstGeom>
          <a:noFill/>
          <a:ln/>
        </p:spPr>
        <p:txBody>
          <a:bodyPr wrap="square" rtlCol="0" anchor="ctr"/>
          <a:lstStyle/>
          <a:p>
            <a:r>
              <a:rPr lang="en-US" sz="2667" dirty="0">
                <a:solidFill>
                  <a:srgbClr val="E8B400"/>
                </a:solidFill>
                <a:latin typeface="Calibri" pitchFamily="34" charset="0"/>
                <a:ea typeface="Calibri" pitchFamily="34" charset="-122"/>
                <a:cs typeface="Calibri" pitchFamily="34" charset="-120"/>
              </a:rPr>
              <a:t>Insights from Bibliometric Analysis of the Food-Energy-Environment Nexus</a:t>
            </a:r>
            <a:endParaRPr lang="en-US" sz="2667" dirty="0"/>
          </a:p>
        </p:txBody>
      </p:sp>
      <p:sp>
        <p:nvSpPr>
          <p:cNvPr id="15" name="Shape 13"/>
          <p:cNvSpPr/>
          <p:nvPr/>
        </p:nvSpPr>
        <p:spPr>
          <a:xfrm>
            <a:off x="426720" y="3450336"/>
            <a:ext cx="4267200" cy="0"/>
          </a:xfrm>
          <a:prstGeom prst="line">
            <a:avLst/>
          </a:prstGeom>
          <a:noFill/>
          <a:ln w="31750">
            <a:solidFill>
              <a:srgbClr val="E8B400"/>
            </a:solidFill>
            <a:prstDash val="solid"/>
          </a:ln>
        </p:spPr>
        <p:txBody>
          <a:bodyPr/>
          <a:lstStyle/>
          <a:p>
            <a:endParaRPr lang="en-US" sz="2400"/>
          </a:p>
        </p:txBody>
      </p:sp>
      <p:sp>
        <p:nvSpPr>
          <p:cNvPr id="16" name="Shape 14"/>
          <p:cNvSpPr/>
          <p:nvPr/>
        </p:nvSpPr>
        <p:spPr>
          <a:xfrm>
            <a:off x="4754880" y="3450336"/>
            <a:ext cx="609600" cy="0"/>
          </a:xfrm>
          <a:prstGeom prst="line">
            <a:avLst/>
          </a:prstGeom>
          <a:noFill/>
          <a:ln w="31750">
            <a:solidFill>
              <a:srgbClr val="C0392B"/>
            </a:solidFill>
            <a:prstDash val="solid"/>
          </a:ln>
        </p:spPr>
        <p:txBody>
          <a:bodyPr/>
          <a:lstStyle/>
          <a:p>
            <a:endParaRPr lang="en-US" sz="2400"/>
          </a:p>
        </p:txBody>
      </p:sp>
      <p:sp>
        <p:nvSpPr>
          <p:cNvPr id="17" name="Text 15"/>
          <p:cNvSpPr/>
          <p:nvPr/>
        </p:nvSpPr>
        <p:spPr>
          <a:xfrm>
            <a:off x="426720" y="3596640"/>
            <a:ext cx="10972800" cy="463296"/>
          </a:xfrm>
          <a:prstGeom prst="rect">
            <a:avLst/>
          </a:prstGeom>
          <a:noFill/>
          <a:ln/>
        </p:spPr>
        <p:txBody>
          <a:bodyPr wrap="square" rtlCol="0" anchor="ctr"/>
          <a:lstStyle/>
          <a:p>
            <a:r>
              <a:rPr lang="en-US" sz="2133" i="1" dirty="0">
                <a:solidFill>
                  <a:srgbClr val="C5CFE0"/>
                </a:solidFill>
              </a:rPr>
              <a:t>From Scholarly Discourse to Policy Actions</a:t>
            </a:r>
            <a:endParaRPr lang="en-US" sz="2133" dirty="0"/>
          </a:p>
        </p:txBody>
      </p:sp>
      <p:sp>
        <p:nvSpPr>
          <p:cNvPr id="18" name="Text 16"/>
          <p:cNvSpPr/>
          <p:nvPr/>
        </p:nvSpPr>
        <p:spPr>
          <a:xfrm>
            <a:off x="426720" y="4120896"/>
            <a:ext cx="10972800" cy="365760"/>
          </a:xfrm>
          <a:prstGeom prst="rect">
            <a:avLst/>
          </a:prstGeom>
          <a:noFill/>
          <a:ln/>
        </p:spPr>
        <p:txBody>
          <a:bodyPr wrap="square" rtlCol="0" anchor="ctr"/>
          <a:lstStyle/>
          <a:p>
            <a:r>
              <a:rPr lang="en-US" sz="1600" dirty="0">
                <a:solidFill>
                  <a:srgbClr val="7A8BA8"/>
                </a:solidFill>
              </a:rPr>
              <a:t>18,846 Documents  •  Scopus 2015–2026  •  Bibliometrix (R)  •  VOSviewer</a:t>
            </a:r>
            <a:endParaRPr lang="en-US" sz="1600" dirty="0"/>
          </a:p>
        </p:txBody>
      </p:sp>
      <p:sp>
        <p:nvSpPr>
          <p:cNvPr id="19" name="Shape 17"/>
          <p:cNvSpPr/>
          <p:nvPr/>
        </p:nvSpPr>
        <p:spPr>
          <a:xfrm>
            <a:off x="426720" y="4657344"/>
            <a:ext cx="2157984" cy="365760"/>
          </a:xfrm>
          <a:prstGeom prst="roundRect">
            <a:avLst>
              <a:gd name="adj" fmla="val 13333"/>
            </a:avLst>
          </a:prstGeom>
          <a:solidFill>
            <a:srgbClr val="1A3A6B"/>
          </a:solidFill>
          <a:ln w="12700">
            <a:solidFill>
              <a:srgbClr val="5BADD9"/>
            </a:solidFill>
            <a:prstDash val="solid"/>
          </a:ln>
        </p:spPr>
        <p:txBody>
          <a:bodyPr/>
          <a:lstStyle/>
          <a:p>
            <a:endParaRPr lang="en-US" sz="2400"/>
          </a:p>
        </p:txBody>
      </p:sp>
      <p:sp>
        <p:nvSpPr>
          <p:cNvPr id="20" name="Text 18"/>
          <p:cNvSpPr/>
          <p:nvPr/>
        </p:nvSpPr>
        <p:spPr>
          <a:xfrm>
            <a:off x="426720" y="4657344"/>
            <a:ext cx="2157984" cy="365760"/>
          </a:xfrm>
          <a:prstGeom prst="rect">
            <a:avLst/>
          </a:prstGeom>
          <a:noFill/>
          <a:ln/>
        </p:spPr>
        <p:txBody>
          <a:bodyPr wrap="square" lIns="0" tIns="0" rIns="0" bIns="0" rtlCol="0" anchor="ctr"/>
          <a:lstStyle/>
          <a:p>
            <a:pPr algn="ctr"/>
            <a:r>
              <a:rPr lang="en-US" sz="1467" dirty="0">
                <a:solidFill>
                  <a:srgbClr val="5BADD9"/>
                </a:solidFill>
              </a:rPr>
              <a:t>Food Security</a:t>
            </a:r>
            <a:endParaRPr lang="en-US" sz="1467" dirty="0"/>
          </a:p>
        </p:txBody>
      </p:sp>
      <p:sp>
        <p:nvSpPr>
          <p:cNvPr id="21" name="Shape 19"/>
          <p:cNvSpPr/>
          <p:nvPr/>
        </p:nvSpPr>
        <p:spPr>
          <a:xfrm>
            <a:off x="2718816" y="4657344"/>
            <a:ext cx="2157984" cy="365760"/>
          </a:xfrm>
          <a:prstGeom prst="roundRect">
            <a:avLst>
              <a:gd name="adj" fmla="val 13333"/>
            </a:avLst>
          </a:prstGeom>
          <a:solidFill>
            <a:srgbClr val="1A3A6B"/>
          </a:solidFill>
          <a:ln w="12700">
            <a:solidFill>
              <a:srgbClr val="5BADD9"/>
            </a:solidFill>
            <a:prstDash val="solid"/>
          </a:ln>
        </p:spPr>
        <p:txBody>
          <a:bodyPr/>
          <a:lstStyle/>
          <a:p>
            <a:endParaRPr lang="en-US" sz="4267"/>
          </a:p>
        </p:txBody>
      </p:sp>
      <p:sp>
        <p:nvSpPr>
          <p:cNvPr id="22" name="Text 20"/>
          <p:cNvSpPr/>
          <p:nvPr/>
        </p:nvSpPr>
        <p:spPr>
          <a:xfrm>
            <a:off x="2718816" y="4657344"/>
            <a:ext cx="2157984" cy="365760"/>
          </a:xfrm>
          <a:prstGeom prst="rect">
            <a:avLst/>
          </a:prstGeom>
          <a:noFill/>
          <a:ln/>
        </p:spPr>
        <p:txBody>
          <a:bodyPr wrap="square" lIns="0" tIns="0" rIns="0" bIns="0" rtlCol="0" anchor="ctr"/>
          <a:lstStyle/>
          <a:p>
            <a:pPr algn="ctr"/>
            <a:r>
              <a:rPr lang="en-US" sz="1400" dirty="0">
                <a:solidFill>
                  <a:srgbClr val="5BADD9"/>
                </a:solidFill>
              </a:rPr>
              <a:t>FEE Nexus</a:t>
            </a:r>
            <a:endParaRPr lang="en-US" sz="1400" dirty="0"/>
          </a:p>
        </p:txBody>
      </p:sp>
      <p:sp>
        <p:nvSpPr>
          <p:cNvPr id="23" name="Shape 21"/>
          <p:cNvSpPr/>
          <p:nvPr/>
        </p:nvSpPr>
        <p:spPr>
          <a:xfrm>
            <a:off x="5010912" y="4657344"/>
            <a:ext cx="2157984" cy="365760"/>
          </a:xfrm>
          <a:prstGeom prst="roundRect">
            <a:avLst>
              <a:gd name="adj" fmla="val 13333"/>
            </a:avLst>
          </a:prstGeom>
          <a:solidFill>
            <a:srgbClr val="1A3A6B"/>
          </a:solidFill>
          <a:ln w="12700">
            <a:solidFill>
              <a:srgbClr val="5BADD9"/>
            </a:solidFill>
            <a:prstDash val="solid"/>
          </a:ln>
        </p:spPr>
        <p:txBody>
          <a:bodyPr/>
          <a:lstStyle/>
          <a:p>
            <a:endParaRPr lang="en-US" sz="2400"/>
          </a:p>
        </p:txBody>
      </p:sp>
      <p:sp>
        <p:nvSpPr>
          <p:cNvPr id="24" name="Text 22"/>
          <p:cNvSpPr/>
          <p:nvPr/>
        </p:nvSpPr>
        <p:spPr>
          <a:xfrm>
            <a:off x="5010912" y="4657344"/>
            <a:ext cx="2157984" cy="365760"/>
          </a:xfrm>
          <a:prstGeom prst="rect">
            <a:avLst/>
          </a:prstGeom>
          <a:noFill/>
          <a:ln/>
        </p:spPr>
        <p:txBody>
          <a:bodyPr wrap="square" lIns="0" tIns="0" rIns="0" bIns="0" rtlCol="0" anchor="ctr"/>
          <a:lstStyle/>
          <a:p>
            <a:pPr algn="ctr"/>
            <a:r>
              <a:rPr lang="en-US" sz="1467" dirty="0">
                <a:solidFill>
                  <a:srgbClr val="5BADD9"/>
                </a:solidFill>
              </a:rPr>
              <a:t>Thematic Evolution</a:t>
            </a:r>
            <a:endParaRPr lang="en-US" sz="1467" dirty="0"/>
          </a:p>
        </p:txBody>
      </p:sp>
      <p:sp>
        <p:nvSpPr>
          <p:cNvPr id="25" name="Shape 23"/>
          <p:cNvSpPr/>
          <p:nvPr/>
        </p:nvSpPr>
        <p:spPr>
          <a:xfrm>
            <a:off x="7303008" y="4657344"/>
            <a:ext cx="2157984" cy="365760"/>
          </a:xfrm>
          <a:prstGeom prst="roundRect">
            <a:avLst>
              <a:gd name="adj" fmla="val 13333"/>
            </a:avLst>
          </a:prstGeom>
          <a:solidFill>
            <a:srgbClr val="1A3A6B"/>
          </a:solidFill>
          <a:ln w="12700">
            <a:solidFill>
              <a:srgbClr val="5BADD9"/>
            </a:solidFill>
            <a:prstDash val="solid"/>
          </a:ln>
        </p:spPr>
        <p:txBody>
          <a:bodyPr/>
          <a:lstStyle/>
          <a:p>
            <a:endParaRPr lang="en-US" sz="4267"/>
          </a:p>
        </p:txBody>
      </p:sp>
      <p:sp>
        <p:nvSpPr>
          <p:cNvPr id="26" name="Text 24"/>
          <p:cNvSpPr/>
          <p:nvPr/>
        </p:nvSpPr>
        <p:spPr>
          <a:xfrm>
            <a:off x="7303008" y="4657344"/>
            <a:ext cx="2157984" cy="365760"/>
          </a:xfrm>
          <a:prstGeom prst="rect">
            <a:avLst/>
          </a:prstGeom>
          <a:noFill/>
          <a:ln/>
        </p:spPr>
        <p:txBody>
          <a:bodyPr wrap="square" lIns="0" tIns="0" rIns="0" bIns="0" rtlCol="0" anchor="ctr"/>
          <a:lstStyle/>
          <a:p>
            <a:pPr algn="ctr"/>
            <a:r>
              <a:rPr lang="en-US" sz="1400" dirty="0">
                <a:solidFill>
                  <a:srgbClr val="5BADD9"/>
                </a:solidFill>
              </a:rPr>
              <a:t>Sustainability</a:t>
            </a:r>
            <a:endParaRPr lang="en-US" sz="1400" dirty="0"/>
          </a:p>
        </p:txBody>
      </p:sp>
      <p:sp>
        <p:nvSpPr>
          <p:cNvPr id="27" name="Shape 25"/>
          <p:cNvSpPr/>
          <p:nvPr/>
        </p:nvSpPr>
        <p:spPr>
          <a:xfrm>
            <a:off x="9595104" y="4657344"/>
            <a:ext cx="2157984" cy="365760"/>
          </a:xfrm>
          <a:prstGeom prst="roundRect">
            <a:avLst>
              <a:gd name="adj" fmla="val 13333"/>
            </a:avLst>
          </a:prstGeom>
          <a:solidFill>
            <a:srgbClr val="1A3A6B"/>
          </a:solidFill>
          <a:ln w="12700">
            <a:solidFill>
              <a:srgbClr val="5BADD9"/>
            </a:solidFill>
            <a:prstDash val="solid"/>
          </a:ln>
        </p:spPr>
        <p:txBody>
          <a:bodyPr/>
          <a:lstStyle/>
          <a:p>
            <a:endParaRPr lang="en-US" sz="2400"/>
          </a:p>
        </p:txBody>
      </p:sp>
      <p:sp>
        <p:nvSpPr>
          <p:cNvPr id="28" name="Text 26"/>
          <p:cNvSpPr/>
          <p:nvPr/>
        </p:nvSpPr>
        <p:spPr>
          <a:xfrm>
            <a:off x="9595104" y="4657344"/>
            <a:ext cx="2157984" cy="365760"/>
          </a:xfrm>
          <a:prstGeom prst="rect">
            <a:avLst/>
          </a:prstGeom>
          <a:noFill/>
          <a:ln/>
        </p:spPr>
        <p:txBody>
          <a:bodyPr wrap="square" lIns="0" tIns="0" rIns="0" bIns="0" rtlCol="0" anchor="ctr"/>
          <a:lstStyle/>
          <a:p>
            <a:pPr algn="ctr"/>
            <a:r>
              <a:rPr lang="en-US" sz="1467" dirty="0">
                <a:solidFill>
                  <a:srgbClr val="5BADD9"/>
                </a:solidFill>
              </a:rPr>
              <a:t>Science Mapping</a:t>
            </a:r>
            <a:endParaRPr lang="en-US" sz="1467" dirty="0"/>
          </a:p>
        </p:txBody>
      </p:sp>
      <p:sp>
        <p:nvSpPr>
          <p:cNvPr id="29" name="Shape 27"/>
          <p:cNvSpPr/>
          <p:nvPr/>
        </p:nvSpPr>
        <p:spPr>
          <a:xfrm>
            <a:off x="0" y="6620256"/>
            <a:ext cx="12192000" cy="24384"/>
          </a:xfrm>
          <a:prstGeom prst="rect">
            <a:avLst/>
          </a:prstGeom>
          <a:solidFill>
            <a:srgbClr val="E8B400"/>
          </a:solidFill>
          <a:ln w="12700">
            <a:solidFill>
              <a:srgbClr val="E8B400"/>
            </a:solidFill>
            <a:prstDash val="solid"/>
          </a:ln>
        </p:spPr>
        <p:txBody>
          <a:bodyPr/>
          <a:lstStyle/>
          <a:p>
            <a:endParaRPr lang="en-US" sz="2400"/>
          </a:p>
        </p:txBody>
      </p:sp>
      <p:sp>
        <p:nvSpPr>
          <p:cNvPr id="30" name="Shape 28"/>
          <p:cNvSpPr/>
          <p:nvPr/>
        </p:nvSpPr>
        <p:spPr>
          <a:xfrm>
            <a:off x="0" y="6644640"/>
            <a:ext cx="12192000" cy="213360"/>
          </a:xfrm>
          <a:prstGeom prst="rect">
            <a:avLst/>
          </a:prstGeom>
          <a:solidFill>
            <a:srgbClr val="060F20"/>
          </a:solidFill>
          <a:ln w="12700">
            <a:solidFill>
              <a:srgbClr val="060F20"/>
            </a:solidFill>
            <a:prstDash val="solid"/>
          </a:ln>
        </p:spPr>
        <p:txBody>
          <a:bodyPr/>
          <a:lstStyle/>
          <a:p>
            <a:endParaRPr lang="en-US" sz="2400"/>
          </a:p>
        </p:txBody>
      </p:sp>
      <p:sp>
        <p:nvSpPr>
          <p:cNvPr id="31" name="Text 29"/>
          <p:cNvSpPr/>
          <p:nvPr/>
        </p:nvSpPr>
        <p:spPr>
          <a:xfrm>
            <a:off x="0" y="6644640"/>
            <a:ext cx="12192000" cy="213360"/>
          </a:xfrm>
          <a:prstGeom prst="rect">
            <a:avLst/>
          </a:prstGeom>
          <a:noFill/>
          <a:ln/>
        </p:spPr>
        <p:txBody>
          <a:bodyPr wrap="square" rtlCol="0" anchor="ctr"/>
          <a:lstStyle/>
          <a:p>
            <a:pPr algn="ctr"/>
            <a:r>
              <a:rPr lang="en-US" sz="1067" dirty="0">
                <a:solidFill>
                  <a:srgbClr val="7A8BA8"/>
                </a:solidFill>
              </a:rPr>
              <a:t>University of Cape Coast, Ghana  •  Veritas Nobis Lumen — Truth, Our Guide</a:t>
            </a:r>
            <a:endParaRPr lang="en-US" sz="1067" dirty="0"/>
          </a:p>
        </p:txBody>
      </p:sp>
      <p:pic>
        <p:nvPicPr>
          <p:cNvPr id="3" name="Picture 2" descr="UCC logo 2 - Those Who Inspire">
            <a:extLst>
              <a:ext uri="{FF2B5EF4-FFF2-40B4-BE49-F238E27FC236}">
                <a16:creationId xmlns:a16="http://schemas.microsoft.com/office/drawing/2014/main" id="{35381824-BD0D-E9A0-5E35-6238623EE764}"/>
              </a:ext>
            </a:extLst>
          </p:cNvPr>
          <p:cNvPicPr>
            <a:picLocks noChangeAspect="1"/>
          </p:cNvPicPr>
          <p:nvPr/>
        </p:nvPicPr>
        <p:blipFill>
          <a:blip r:embed="rId3"/>
          <a:srcRect l="6258" t="5689" r="9547" b="35016"/>
          <a:stretch>
            <a:fillRect/>
          </a:stretch>
        </p:blipFill>
        <p:spPr>
          <a:xfrm>
            <a:off x="9144000" y="811164"/>
            <a:ext cx="2918051" cy="20550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22952"/>
          </a:solidFill>
          <a:ln w="12700">
            <a:solidFill>
              <a:srgbClr val="122952"/>
            </a:solidFill>
            <a:prstDash val="solid"/>
          </a:ln>
        </p:spPr>
        <p:txBody>
          <a:bodyPr/>
          <a:lstStyle/>
          <a:p>
            <a:endParaRPr lang="en-US" sz="2400"/>
          </a:p>
        </p:txBody>
      </p:sp>
      <p:sp>
        <p:nvSpPr>
          <p:cNvPr id="3" name="Shape 1"/>
          <p:cNvSpPr/>
          <p:nvPr/>
        </p:nvSpPr>
        <p:spPr>
          <a:xfrm>
            <a:off x="0" y="914400"/>
            <a:ext cx="12192000" cy="48768"/>
          </a:xfrm>
          <a:prstGeom prst="rect">
            <a:avLst/>
          </a:prstGeom>
          <a:solidFill>
            <a:srgbClr val="E8B400"/>
          </a:solidFill>
          <a:ln w="12700">
            <a:solidFill>
              <a:srgbClr val="E8B400"/>
            </a:solidFill>
            <a:prstDash val="solid"/>
          </a:ln>
        </p:spPr>
        <p:txBody>
          <a:bodyPr/>
          <a:lstStyle/>
          <a:p>
            <a:endParaRPr lang="en-US" sz="2400"/>
          </a:p>
        </p:txBody>
      </p:sp>
      <p:sp>
        <p:nvSpPr>
          <p:cNvPr id="4" name="Shape 2"/>
          <p:cNvSpPr/>
          <p:nvPr/>
        </p:nvSpPr>
        <p:spPr>
          <a:xfrm>
            <a:off x="0" y="963168"/>
            <a:ext cx="12192000" cy="24384"/>
          </a:xfrm>
          <a:prstGeom prst="rect">
            <a:avLst/>
          </a:prstGeom>
          <a:solidFill>
            <a:srgbClr val="C0392B"/>
          </a:solidFill>
          <a:ln w="12700">
            <a:solidFill>
              <a:srgbClr val="C0392B"/>
            </a:solidFill>
            <a:prstDash val="solid"/>
          </a:ln>
        </p:spPr>
        <p:txBody>
          <a:bodyPr/>
          <a:lstStyle/>
          <a:p>
            <a:endParaRPr lang="en-US" sz="2400"/>
          </a:p>
        </p:txBody>
      </p:sp>
      <p:sp>
        <p:nvSpPr>
          <p:cNvPr id="5" name="Text 3"/>
          <p:cNvSpPr/>
          <p:nvPr/>
        </p:nvSpPr>
        <p:spPr>
          <a:xfrm>
            <a:off x="512064" y="0"/>
            <a:ext cx="10728960" cy="914400"/>
          </a:xfrm>
          <a:prstGeom prst="rect">
            <a:avLst/>
          </a:prstGeom>
          <a:noFill/>
          <a:ln/>
        </p:spPr>
        <p:txBody>
          <a:bodyPr wrap="square" rtlCol="0" anchor="ctr"/>
          <a:lstStyle/>
          <a:p>
            <a:r>
              <a:rPr lang="en-US" sz="2667" b="1" dirty="0">
                <a:solidFill>
                  <a:srgbClr val="FFFFFF"/>
                </a:solidFill>
                <a:latin typeface="Calibri" pitchFamily="34" charset="0"/>
                <a:ea typeface="Calibri" pitchFamily="34" charset="-122"/>
                <a:cs typeface="Calibri" pitchFamily="34" charset="-120"/>
              </a:rPr>
              <a:t>Background &amp; Problem Statement</a:t>
            </a:r>
            <a:endParaRPr lang="en-US" sz="2667" dirty="0"/>
          </a:p>
        </p:txBody>
      </p:sp>
      <p:sp>
        <p:nvSpPr>
          <p:cNvPr id="6" name="Shape 4"/>
          <p:cNvSpPr/>
          <p:nvPr/>
        </p:nvSpPr>
        <p:spPr>
          <a:xfrm>
            <a:off x="426720" y="1121664"/>
            <a:ext cx="3511296" cy="1682496"/>
          </a:xfrm>
          <a:prstGeom prst="rect">
            <a:avLst/>
          </a:prstGeom>
          <a:solidFill>
            <a:srgbClr val="1B3A6B"/>
          </a:solidFill>
          <a:ln w="12700">
            <a:solidFill>
              <a:srgbClr val="1B3A6B"/>
            </a:solidFill>
            <a:prstDash val="solid"/>
          </a:ln>
          <a:effectLst>
            <a:outerShdw blurRad="101600" dist="25400" dir="8100000" algn="bl" rotWithShape="0">
              <a:srgbClr val="000000">
                <a:alpha val="15000"/>
              </a:srgbClr>
            </a:outerShdw>
          </a:effectLst>
        </p:spPr>
        <p:txBody>
          <a:bodyPr/>
          <a:lstStyle/>
          <a:p>
            <a:endParaRPr lang="en-US" sz="2400"/>
          </a:p>
        </p:txBody>
      </p:sp>
      <p:sp>
        <p:nvSpPr>
          <p:cNvPr id="7" name="Text 5"/>
          <p:cNvSpPr/>
          <p:nvPr/>
        </p:nvSpPr>
        <p:spPr>
          <a:xfrm>
            <a:off x="426720" y="1121664"/>
            <a:ext cx="3511296" cy="975360"/>
          </a:xfrm>
          <a:prstGeom prst="rect">
            <a:avLst/>
          </a:prstGeom>
          <a:noFill/>
          <a:ln/>
        </p:spPr>
        <p:txBody>
          <a:bodyPr wrap="square" rtlCol="0" anchor="b"/>
          <a:lstStyle/>
          <a:p>
            <a:pPr algn="ctr"/>
            <a:r>
              <a:rPr lang="en-US" sz="5600" b="1" dirty="0">
                <a:solidFill>
                  <a:srgbClr val="FFFFFF"/>
                </a:solidFill>
                <a:latin typeface="Calibri" pitchFamily="34" charset="0"/>
                <a:ea typeface="Calibri" pitchFamily="34" charset="-122"/>
                <a:cs typeface="Calibri" pitchFamily="34" charset="-120"/>
              </a:rPr>
              <a:t>673M</a:t>
            </a:r>
            <a:endParaRPr lang="en-US" sz="5600" dirty="0"/>
          </a:p>
        </p:txBody>
      </p:sp>
      <p:sp>
        <p:nvSpPr>
          <p:cNvPr id="8" name="Text 6"/>
          <p:cNvSpPr/>
          <p:nvPr/>
        </p:nvSpPr>
        <p:spPr>
          <a:xfrm>
            <a:off x="426720" y="2097024"/>
            <a:ext cx="3511296" cy="707136"/>
          </a:xfrm>
          <a:prstGeom prst="rect">
            <a:avLst/>
          </a:prstGeom>
          <a:noFill/>
          <a:ln/>
        </p:spPr>
        <p:txBody>
          <a:bodyPr wrap="square" rtlCol="0" anchor="t"/>
          <a:lstStyle/>
          <a:p>
            <a:pPr algn="ctr"/>
            <a:r>
              <a:rPr lang="en-US" dirty="0">
                <a:solidFill>
                  <a:srgbClr val="D8EAF5"/>
                </a:solidFill>
              </a:rPr>
              <a:t>people undernourished</a:t>
            </a:r>
            <a:endParaRPr lang="en-US" dirty="0"/>
          </a:p>
          <a:p>
            <a:pPr algn="ctr"/>
            <a:r>
              <a:rPr lang="en-US" dirty="0">
                <a:solidFill>
                  <a:srgbClr val="D8EAF5"/>
                </a:solidFill>
              </a:rPr>
              <a:t>globally in 2024</a:t>
            </a:r>
            <a:endParaRPr lang="en-US" dirty="0"/>
          </a:p>
        </p:txBody>
      </p:sp>
      <p:sp>
        <p:nvSpPr>
          <p:cNvPr id="9" name="Shape 7"/>
          <p:cNvSpPr/>
          <p:nvPr/>
        </p:nvSpPr>
        <p:spPr>
          <a:xfrm>
            <a:off x="4206240" y="1121664"/>
            <a:ext cx="3511296" cy="1682496"/>
          </a:xfrm>
          <a:prstGeom prst="rect">
            <a:avLst/>
          </a:prstGeom>
          <a:solidFill>
            <a:srgbClr val="1A7AB5"/>
          </a:solidFill>
          <a:ln w="12700">
            <a:solidFill>
              <a:srgbClr val="1A7AB5"/>
            </a:solidFill>
            <a:prstDash val="solid"/>
          </a:ln>
          <a:effectLst>
            <a:outerShdw blurRad="101600" dist="25400" dir="8100000" algn="bl" rotWithShape="0">
              <a:srgbClr val="000000">
                <a:alpha val="15000"/>
              </a:srgbClr>
            </a:outerShdw>
          </a:effectLst>
        </p:spPr>
        <p:txBody>
          <a:bodyPr/>
          <a:lstStyle/>
          <a:p>
            <a:endParaRPr lang="en-US" sz="2400"/>
          </a:p>
        </p:txBody>
      </p:sp>
      <p:sp>
        <p:nvSpPr>
          <p:cNvPr id="10" name="Text 8"/>
          <p:cNvSpPr/>
          <p:nvPr/>
        </p:nvSpPr>
        <p:spPr>
          <a:xfrm>
            <a:off x="4206240" y="1121664"/>
            <a:ext cx="3511296" cy="975360"/>
          </a:xfrm>
          <a:prstGeom prst="rect">
            <a:avLst/>
          </a:prstGeom>
          <a:noFill/>
          <a:ln/>
        </p:spPr>
        <p:txBody>
          <a:bodyPr wrap="square" rtlCol="0" anchor="b"/>
          <a:lstStyle/>
          <a:p>
            <a:pPr algn="ctr"/>
            <a:r>
              <a:rPr lang="en-US" sz="5600" b="1" dirty="0">
                <a:solidFill>
                  <a:srgbClr val="FFFFFF"/>
                </a:solidFill>
                <a:latin typeface="Calibri" pitchFamily="34" charset="0"/>
                <a:ea typeface="Calibri" pitchFamily="34" charset="-122"/>
                <a:cs typeface="Calibri" pitchFamily="34" charset="-120"/>
              </a:rPr>
              <a:t>2.33B</a:t>
            </a:r>
            <a:endParaRPr lang="en-US" sz="5600" dirty="0"/>
          </a:p>
        </p:txBody>
      </p:sp>
      <p:sp>
        <p:nvSpPr>
          <p:cNvPr id="11" name="Text 9"/>
          <p:cNvSpPr/>
          <p:nvPr/>
        </p:nvSpPr>
        <p:spPr>
          <a:xfrm>
            <a:off x="4206240" y="2097024"/>
            <a:ext cx="3511296" cy="707136"/>
          </a:xfrm>
          <a:prstGeom prst="rect">
            <a:avLst/>
          </a:prstGeom>
          <a:noFill/>
          <a:ln/>
        </p:spPr>
        <p:txBody>
          <a:bodyPr wrap="square" rtlCol="0" anchor="t"/>
          <a:lstStyle/>
          <a:p>
            <a:pPr algn="ctr"/>
            <a:r>
              <a:rPr lang="en-US" dirty="0">
                <a:solidFill>
                  <a:srgbClr val="D8EAF5"/>
                </a:solidFill>
              </a:rPr>
              <a:t>experiencing moderate–severe</a:t>
            </a:r>
            <a:endParaRPr lang="en-US" dirty="0"/>
          </a:p>
          <a:p>
            <a:pPr algn="ctr"/>
            <a:r>
              <a:rPr lang="en-US" dirty="0">
                <a:solidFill>
                  <a:srgbClr val="D8EAF5"/>
                </a:solidFill>
              </a:rPr>
              <a:t>food insecurity in 2023</a:t>
            </a:r>
            <a:endParaRPr lang="en-US" dirty="0"/>
          </a:p>
        </p:txBody>
      </p:sp>
      <p:sp>
        <p:nvSpPr>
          <p:cNvPr id="12" name="Shape 10"/>
          <p:cNvSpPr/>
          <p:nvPr/>
        </p:nvSpPr>
        <p:spPr>
          <a:xfrm>
            <a:off x="7985760" y="1121664"/>
            <a:ext cx="3511296" cy="1682496"/>
          </a:xfrm>
          <a:prstGeom prst="rect">
            <a:avLst/>
          </a:prstGeom>
          <a:solidFill>
            <a:srgbClr val="C0392B"/>
          </a:solidFill>
          <a:ln w="12700">
            <a:solidFill>
              <a:srgbClr val="C0392B"/>
            </a:solidFill>
            <a:prstDash val="solid"/>
          </a:ln>
          <a:effectLst>
            <a:outerShdw blurRad="101600" dist="25400" dir="8100000" algn="bl" rotWithShape="0">
              <a:srgbClr val="000000">
                <a:alpha val="15000"/>
              </a:srgbClr>
            </a:outerShdw>
          </a:effectLst>
        </p:spPr>
        <p:txBody>
          <a:bodyPr/>
          <a:lstStyle/>
          <a:p>
            <a:endParaRPr lang="en-US" sz="2400"/>
          </a:p>
        </p:txBody>
      </p:sp>
      <p:sp>
        <p:nvSpPr>
          <p:cNvPr id="13" name="Text 11"/>
          <p:cNvSpPr/>
          <p:nvPr/>
        </p:nvSpPr>
        <p:spPr>
          <a:xfrm>
            <a:off x="7985760" y="1121664"/>
            <a:ext cx="3511296" cy="975360"/>
          </a:xfrm>
          <a:prstGeom prst="rect">
            <a:avLst/>
          </a:prstGeom>
          <a:noFill/>
          <a:ln/>
        </p:spPr>
        <p:txBody>
          <a:bodyPr wrap="square" rtlCol="0" anchor="b"/>
          <a:lstStyle/>
          <a:p>
            <a:pPr algn="ctr"/>
            <a:r>
              <a:rPr lang="en-US" sz="5600" b="1" dirty="0">
                <a:solidFill>
                  <a:srgbClr val="FFFFFF"/>
                </a:solidFill>
                <a:latin typeface="Calibri" pitchFamily="34" charset="0"/>
                <a:ea typeface="Calibri" pitchFamily="34" charset="-122"/>
                <a:cs typeface="Calibri" pitchFamily="34" charset="-120"/>
              </a:rPr>
              <a:t>30%</a:t>
            </a:r>
            <a:endParaRPr lang="en-US" sz="5600" dirty="0"/>
          </a:p>
        </p:txBody>
      </p:sp>
      <p:sp>
        <p:nvSpPr>
          <p:cNvPr id="14" name="Text 12"/>
          <p:cNvSpPr/>
          <p:nvPr/>
        </p:nvSpPr>
        <p:spPr>
          <a:xfrm>
            <a:off x="7985760" y="2097024"/>
            <a:ext cx="3511296" cy="707136"/>
          </a:xfrm>
          <a:prstGeom prst="rect">
            <a:avLst/>
          </a:prstGeom>
          <a:noFill/>
          <a:ln/>
        </p:spPr>
        <p:txBody>
          <a:bodyPr wrap="square" rtlCol="0" anchor="t"/>
          <a:lstStyle/>
          <a:p>
            <a:pPr algn="ctr"/>
            <a:r>
              <a:rPr lang="en-US" dirty="0">
                <a:solidFill>
                  <a:srgbClr val="D8EAF5"/>
                </a:solidFill>
              </a:rPr>
              <a:t>of global energy demand</a:t>
            </a:r>
            <a:endParaRPr lang="en-US" dirty="0"/>
          </a:p>
          <a:p>
            <a:pPr algn="ctr"/>
            <a:r>
              <a:rPr lang="en-US" dirty="0">
                <a:solidFill>
                  <a:srgbClr val="D8EAF5"/>
                </a:solidFill>
              </a:rPr>
              <a:t>from agri-food systems</a:t>
            </a:r>
            <a:endParaRPr lang="en-US" dirty="0"/>
          </a:p>
        </p:txBody>
      </p:sp>
      <p:sp>
        <p:nvSpPr>
          <p:cNvPr id="15" name="Text 13"/>
          <p:cNvSpPr/>
          <p:nvPr/>
        </p:nvSpPr>
        <p:spPr>
          <a:xfrm>
            <a:off x="426720" y="2999232"/>
            <a:ext cx="11338560" cy="438912"/>
          </a:xfrm>
          <a:prstGeom prst="rect">
            <a:avLst/>
          </a:prstGeom>
          <a:noFill/>
          <a:ln/>
        </p:spPr>
        <p:txBody>
          <a:bodyPr wrap="square" rtlCol="0" anchor="ctr"/>
          <a:lstStyle/>
          <a:p>
            <a:r>
              <a:rPr lang="en-US" sz="2400" b="1" dirty="0">
                <a:latin typeface="Calibri" pitchFamily="34" charset="0"/>
                <a:ea typeface="Calibri" pitchFamily="34" charset="-122"/>
                <a:cs typeface="Calibri" pitchFamily="34" charset="-120"/>
              </a:rPr>
              <a:t>Why the Food-Energy-Environment (FEE) Nexus?</a:t>
            </a:r>
            <a:endParaRPr lang="en-US" sz="2400" dirty="0"/>
          </a:p>
        </p:txBody>
      </p:sp>
      <p:sp>
        <p:nvSpPr>
          <p:cNvPr id="16" name="Shape 14"/>
          <p:cNvSpPr/>
          <p:nvPr/>
        </p:nvSpPr>
        <p:spPr>
          <a:xfrm>
            <a:off x="426720" y="3584448"/>
            <a:ext cx="85344" cy="402336"/>
          </a:xfrm>
          <a:prstGeom prst="rect">
            <a:avLst/>
          </a:prstGeom>
          <a:solidFill>
            <a:srgbClr val="1B3A6B"/>
          </a:solidFill>
          <a:ln w="12700">
            <a:solidFill>
              <a:srgbClr val="1B3A6B"/>
            </a:solidFill>
            <a:prstDash val="solid"/>
          </a:ln>
        </p:spPr>
        <p:txBody>
          <a:bodyPr/>
          <a:lstStyle/>
          <a:p>
            <a:endParaRPr lang="en-US" sz="2400"/>
          </a:p>
        </p:txBody>
      </p:sp>
      <p:sp>
        <p:nvSpPr>
          <p:cNvPr id="17" name="Text 15"/>
          <p:cNvSpPr/>
          <p:nvPr/>
        </p:nvSpPr>
        <p:spPr>
          <a:xfrm>
            <a:off x="682752" y="3584448"/>
            <a:ext cx="11094720" cy="487680"/>
          </a:xfrm>
          <a:prstGeom prst="rect">
            <a:avLst/>
          </a:prstGeom>
          <a:noFill/>
          <a:ln/>
        </p:spPr>
        <p:txBody>
          <a:bodyPr wrap="square" rtlCol="0" anchor="t"/>
          <a:lstStyle/>
          <a:p>
            <a:r>
              <a:rPr lang="en-US" sz="1867" dirty="0">
                <a:latin typeface="Calibri" pitchFamily="34" charset="0"/>
                <a:ea typeface="Calibri" pitchFamily="34" charset="-122"/>
                <a:cs typeface="Calibri" pitchFamily="34" charset="-120"/>
              </a:rPr>
              <a:t>Food systems, energy access &amp; environmental sustainability are deeply interconnected — not siloed problems</a:t>
            </a:r>
            <a:endParaRPr lang="en-US" sz="1867" dirty="0"/>
          </a:p>
        </p:txBody>
      </p:sp>
      <p:sp>
        <p:nvSpPr>
          <p:cNvPr id="18" name="Shape 16"/>
          <p:cNvSpPr/>
          <p:nvPr/>
        </p:nvSpPr>
        <p:spPr>
          <a:xfrm>
            <a:off x="426720" y="4242816"/>
            <a:ext cx="85344" cy="402336"/>
          </a:xfrm>
          <a:prstGeom prst="rect">
            <a:avLst/>
          </a:prstGeom>
          <a:solidFill>
            <a:srgbClr val="1A7AB5"/>
          </a:solidFill>
          <a:ln w="12700">
            <a:solidFill>
              <a:srgbClr val="1A7AB5"/>
            </a:solidFill>
            <a:prstDash val="solid"/>
          </a:ln>
        </p:spPr>
        <p:txBody>
          <a:bodyPr/>
          <a:lstStyle/>
          <a:p>
            <a:endParaRPr lang="en-US" sz="2400"/>
          </a:p>
        </p:txBody>
      </p:sp>
      <p:sp>
        <p:nvSpPr>
          <p:cNvPr id="19" name="Text 17"/>
          <p:cNvSpPr/>
          <p:nvPr/>
        </p:nvSpPr>
        <p:spPr>
          <a:xfrm>
            <a:off x="682752" y="4242816"/>
            <a:ext cx="11094720" cy="487680"/>
          </a:xfrm>
          <a:prstGeom prst="rect">
            <a:avLst/>
          </a:prstGeom>
          <a:noFill/>
          <a:ln/>
        </p:spPr>
        <p:txBody>
          <a:bodyPr wrap="square" rtlCol="0" anchor="t"/>
          <a:lstStyle/>
          <a:p>
            <a:r>
              <a:rPr lang="en-US" sz="1867" dirty="0">
                <a:latin typeface="Calibri" pitchFamily="34" charset="0"/>
                <a:ea typeface="Calibri" pitchFamily="34" charset="-122"/>
                <a:cs typeface="Calibri" pitchFamily="34" charset="-120"/>
              </a:rPr>
              <a:t>Existing bibliometric reviews focus on Water-Energy-Food (WEF); the FEE nexus applied to food security remains unmapped</a:t>
            </a:r>
            <a:endParaRPr lang="en-US" sz="1867" dirty="0"/>
          </a:p>
        </p:txBody>
      </p:sp>
      <p:sp>
        <p:nvSpPr>
          <p:cNvPr id="20" name="Shape 18"/>
          <p:cNvSpPr/>
          <p:nvPr/>
        </p:nvSpPr>
        <p:spPr>
          <a:xfrm>
            <a:off x="426720" y="4901184"/>
            <a:ext cx="85344" cy="402336"/>
          </a:xfrm>
          <a:prstGeom prst="rect">
            <a:avLst/>
          </a:prstGeom>
          <a:solidFill>
            <a:srgbClr val="C0392B"/>
          </a:solidFill>
          <a:ln w="12700">
            <a:solidFill>
              <a:srgbClr val="C0392B"/>
            </a:solidFill>
            <a:prstDash val="solid"/>
          </a:ln>
        </p:spPr>
        <p:txBody>
          <a:bodyPr/>
          <a:lstStyle/>
          <a:p>
            <a:endParaRPr lang="en-US" sz="2400"/>
          </a:p>
        </p:txBody>
      </p:sp>
      <p:sp>
        <p:nvSpPr>
          <p:cNvPr id="21" name="Text 19"/>
          <p:cNvSpPr/>
          <p:nvPr/>
        </p:nvSpPr>
        <p:spPr>
          <a:xfrm>
            <a:off x="682752" y="4901184"/>
            <a:ext cx="11094720" cy="487680"/>
          </a:xfrm>
          <a:prstGeom prst="rect">
            <a:avLst/>
          </a:prstGeom>
          <a:noFill/>
          <a:ln/>
        </p:spPr>
        <p:txBody>
          <a:bodyPr wrap="square" rtlCol="0" anchor="t"/>
          <a:lstStyle/>
          <a:p>
            <a:r>
              <a:rPr lang="en-US" sz="1867" dirty="0">
                <a:latin typeface="Calibri" pitchFamily="34" charset="0"/>
                <a:ea typeface="Calibri" pitchFamily="34" charset="-122"/>
                <a:cs typeface="Calibri" pitchFamily="34" charset="-120"/>
              </a:rPr>
              <a:t>UN SDGs (2015) and Paris Agreement unified SDG 2, 7, 13 &amp; 15 under one integrated policy umbrella</a:t>
            </a:r>
            <a:endParaRPr lang="en-US" sz="1867" dirty="0"/>
          </a:p>
        </p:txBody>
      </p:sp>
      <p:sp>
        <p:nvSpPr>
          <p:cNvPr id="22" name="Shape 20"/>
          <p:cNvSpPr/>
          <p:nvPr/>
        </p:nvSpPr>
        <p:spPr>
          <a:xfrm>
            <a:off x="426720" y="5559552"/>
            <a:ext cx="85344" cy="402336"/>
          </a:xfrm>
          <a:prstGeom prst="rect">
            <a:avLst/>
          </a:prstGeom>
          <a:solidFill>
            <a:srgbClr val="2B5FA8"/>
          </a:solidFill>
          <a:ln w="12700">
            <a:solidFill>
              <a:srgbClr val="2B5FA8"/>
            </a:solidFill>
            <a:prstDash val="solid"/>
          </a:ln>
        </p:spPr>
        <p:txBody>
          <a:bodyPr/>
          <a:lstStyle/>
          <a:p>
            <a:endParaRPr lang="en-US" sz="2400"/>
          </a:p>
        </p:txBody>
      </p:sp>
      <p:sp>
        <p:nvSpPr>
          <p:cNvPr id="23" name="Text 21"/>
          <p:cNvSpPr/>
          <p:nvPr/>
        </p:nvSpPr>
        <p:spPr>
          <a:xfrm>
            <a:off x="682752" y="5559552"/>
            <a:ext cx="11094720" cy="487680"/>
          </a:xfrm>
          <a:prstGeom prst="rect">
            <a:avLst/>
          </a:prstGeom>
          <a:noFill/>
          <a:ln/>
        </p:spPr>
        <p:txBody>
          <a:bodyPr wrap="square" rtlCol="0" anchor="t"/>
          <a:lstStyle/>
          <a:p>
            <a:r>
              <a:rPr lang="en-US" sz="1867" dirty="0">
                <a:latin typeface="Calibri" pitchFamily="34" charset="0"/>
                <a:ea typeface="Calibri" pitchFamily="34" charset="-122"/>
                <a:cs typeface="Calibri" pitchFamily="34" charset="-120"/>
              </a:rPr>
              <a:t>~1/3 of GHG emissions are driven by energy use in agri-food systems (IRENA &amp; FAO, 2021)</a:t>
            </a:r>
            <a:endParaRPr lang="en-US" sz="1867" dirty="0"/>
          </a:p>
        </p:txBody>
      </p:sp>
      <p:sp>
        <p:nvSpPr>
          <p:cNvPr id="24" name="Shape 22"/>
          <p:cNvSpPr/>
          <p:nvPr/>
        </p:nvSpPr>
        <p:spPr>
          <a:xfrm>
            <a:off x="0" y="6620256"/>
            <a:ext cx="12192000" cy="24384"/>
          </a:xfrm>
          <a:prstGeom prst="rect">
            <a:avLst/>
          </a:prstGeom>
          <a:solidFill>
            <a:srgbClr val="E8B400"/>
          </a:solidFill>
          <a:ln w="12700">
            <a:solidFill>
              <a:srgbClr val="E8B400"/>
            </a:solidFill>
            <a:prstDash val="solid"/>
          </a:ln>
        </p:spPr>
        <p:txBody>
          <a:bodyPr/>
          <a:lstStyle/>
          <a:p>
            <a:endParaRPr lang="en-US" sz="2400"/>
          </a:p>
        </p:txBody>
      </p:sp>
      <p:sp>
        <p:nvSpPr>
          <p:cNvPr id="25" name="Shape 23"/>
          <p:cNvSpPr/>
          <p:nvPr/>
        </p:nvSpPr>
        <p:spPr>
          <a:xfrm>
            <a:off x="0" y="6644640"/>
            <a:ext cx="12192000" cy="213360"/>
          </a:xfrm>
          <a:prstGeom prst="rect">
            <a:avLst/>
          </a:prstGeom>
          <a:solidFill>
            <a:srgbClr val="122952"/>
          </a:solidFill>
          <a:ln w="12700">
            <a:solidFill>
              <a:srgbClr val="122952"/>
            </a:solidFill>
            <a:prstDash val="solid"/>
          </a:ln>
        </p:spPr>
        <p:txBody>
          <a:bodyPr/>
          <a:lstStyle/>
          <a:p>
            <a:endParaRPr lang="en-US" sz="2400"/>
          </a:p>
        </p:txBody>
      </p:sp>
      <p:sp>
        <p:nvSpPr>
          <p:cNvPr id="26" name="Text 24"/>
          <p:cNvSpPr/>
          <p:nvPr/>
        </p:nvSpPr>
        <p:spPr>
          <a:xfrm>
            <a:off x="0" y="6644640"/>
            <a:ext cx="12192000" cy="213360"/>
          </a:xfrm>
          <a:prstGeom prst="rect">
            <a:avLst/>
          </a:prstGeom>
          <a:noFill/>
          <a:ln/>
        </p:spPr>
        <p:txBody>
          <a:bodyPr wrap="square" rtlCol="0" anchor="ctr"/>
          <a:lstStyle/>
          <a:p>
            <a:pPr algn="ctr"/>
            <a:r>
              <a:rPr lang="en-US" sz="1067" dirty="0">
                <a:solidFill>
                  <a:srgbClr val="C5CFE0"/>
                </a:solidFill>
              </a:rPr>
              <a:t>University of Cape Coast  •  Veritas Nobis Lumen  |  Truth, Our Guide</a:t>
            </a:r>
            <a:endParaRPr lang="en-US" sz="106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22952"/>
          </a:solidFill>
          <a:ln w="12700">
            <a:solidFill>
              <a:srgbClr val="122952"/>
            </a:solidFill>
            <a:prstDash val="solid"/>
          </a:ln>
        </p:spPr>
        <p:txBody>
          <a:bodyPr/>
          <a:lstStyle/>
          <a:p>
            <a:endParaRPr lang="en-US" sz="2400"/>
          </a:p>
        </p:txBody>
      </p:sp>
      <p:sp>
        <p:nvSpPr>
          <p:cNvPr id="3" name="Shape 1"/>
          <p:cNvSpPr/>
          <p:nvPr/>
        </p:nvSpPr>
        <p:spPr>
          <a:xfrm>
            <a:off x="0" y="914400"/>
            <a:ext cx="12192000" cy="48768"/>
          </a:xfrm>
          <a:prstGeom prst="rect">
            <a:avLst/>
          </a:prstGeom>
          <a:solidFill>
            <a:srgbClr val="E8B400"/>
          </a:solidFill>
          <a:ln w="12700">
            <a:solidFill>
              <a:srgbClr val="E8B400"/>
            </a:solidFill>
            <a:prstDash val="solid"/>
          </a:ln>
        </p:spPr>
        <p:txBody>
          <a:bodyPr/>
          <a:lstStyle/>
          <a:p>
            <a:endParaRPr lang="en-US" sz="2400"/>
          </a:p>
        </p:txBody>
      </p:sp>
      <p:sp>
        <p:nvSpPr>
          <p:cNvPr id="4" name="Shape 2"/>
          <p:cNvSpPr/>
          <p:nvPr/>
        </p:nvSpPr>
        <p:spPr>
          <a:xfrm>
            <a:off x="0" y="963168"/>
            <a:ext cx="12192000" cy="24384"/>
          </a:xfrm>
          <a:prstGeom prst="rect">
            <a:avLst/>
          </a:prstGeom>
          <a:solidFill>
            <a:srgbClr val="C0392B"/>
          </a:solidFill>
          <a:ln w="12700">
            <a:solidFill>
              <a:srgbClr val="C0392B"/>
            </a:solidFill>
            <a:prstDash val="solid"/>
          </a:ln>
        </p:spPr>
        <p:txBody>
          <a:bodyPr/>
          <a:lstStyle/>
          <a:p>
            <a:endParaRPr lang="en-US" sz="2400"/>
          </a:p>
        </p:txBody>
      </p:sp>
      <p:sp>
        <p:nvSpPr>
          <p:cNvPr id="5" name="Text 3"/>
          <p:cNvSpPr/>
          <p:nvPr/>
        </p:nvSpPr>
        <p:spPr>
          <a:xfrm>
            <a:off x="512064" y="0"/>
            <a:ext cx="10728960" cy="914400"/>
          </a:xfrm>
          <a:prstGeom prst="rect">
            <a:avLst/>
          </a:prstGeom>
          <a:noFill/>
          <a:ln/>
        </p:spPr>
        <p:txBody>
          <a:bodyPr wrap="square" rtlCol="0" anchor="ctr"/>
          <a:lstStyle/>
          <a:p>
            <a:r>
              <a:rPr lang="en-US" sz="2667" b="1" dirty="0">
                <a:solidFill>
                  <a:srgbClr val="FFFFFF"/>
                </a:solidFill>
                <a:latin typeface="Calibri" pitchFamily="34" charset="0"/>
                <a:ea typeface="Calibri" pitchFamily="34" charset="-122"/>
                <a:cs typeface="Calibri" pitchFamily="34" charset="-120"/>
              </a:rPr>
              <a:t>Methodology &amp; Data</a:t>
            </a:r>
            <a:endParaRPr lang="en-US" sz="2667" dirty="0"/>
          </a:p>
        </p:txBody>
      </p:sp>
      <p:sp>
        <p:nvSpPr>
          <p:cNvPr id="6" name="Shape 4"/>
          <p:cNvSpPr/>
          <p:nvPr/>
        </p:nvSpPr>
        <p:spPr>
          <a:xfrm>
            <a:off x="268224" y="1146048"/>
            <a:ext cx="2170176" cy="4511040"/>
          </a:xfrm>
          <a:prstGeom prst="rect">
            <a:avLst/>
          </a:prstGeom>
          <a:solidFill>
            <a:srgbClr val="152B52"/>
          </a:solidFill>
          <a:ln w="12700">
            <a:solidFill>
              <a:srgbClr val="2B5FA8"/>
            </a:solidFill>
            <a:prstDash val="solid"/>
          </a:ln>
        </p:spPr>
        <p:txBody>
          <a:bodyPr/>
          <a:lstStyle/>
          <a:p>
            <a:endParaRPr lang="en-US" sz="2400"/>
          </a:p>
        </p:txBody>
      </p:sp>
      <p:sp>
        <p:nvSpPr>
          <p:cNvPr id="7" name="Shape 5"/>
          <p:cNvSpPr/>
          <p:nvPr/>
        </p:nvSpPr>
        <p:spPr>
          <a:xfrm>
            <a:off x="1048512" y="1219200"/>
            <a:ext cx="609600" cy="609600"/>
          </a:xfrm>
          <a:prstGeom prst="ellipse">
            <a:avLst/>
          </a:prstGeom>
          <a:solidFill>
            <a:srgbClr val="E8B400"/>
          </a:solidFill>
          <a:ln w="12700">
            <a:solidFill>
              <a:srgbClr val="E8B400"/>
            </a:solidFill>
            <a:prstDash val="solid"/>
          </a:ln>
        </p:spPr>
        <p:txBody>
          <a:bodyPr/>
          <a:lstStyle/>
          <a:p>
            <a:endParaRPr lang="en-US" sz="2400"/>
          </a:p>
        </p:txBody>
      </p:sp>
      <p:sp>
        <p:nvSpPr>
          <p:cNvPr id="8" name="Text 6"/>
          <p:cNvSpPr/>
          <p:nvPr/>
        </p:nvSpPr>
        <p:spPr>
          <a:xfrm>
            <a:off x="1048512" y="1219200"/>
            <a:ext cx="609600" cy="609600"/>
          </a:xfrm>
          <a:prstGeom prst="rect">
            <a:avLst/>
          </a:prstGeom>
          <a:noFill/>
          <a:ln/>
        </p:spPr>
        <p:txBody>
          <a:bodyPr wrap="square" lIns="0" tIns="0" rIns="0" bIns="0" rtlCol="0" anchor="ctr"/>
          <a:lstStyle/>
          <a:p>
            <a:pPr algn="ctr"/>
            <a:r>
              <a:rPr lang="en-US" sz="2133" b="1" dirty="0">
                <a:solidFill>
                  <a:srgbClr val="122952"/>
                </a:solidFill>
              </a:rPr>
              <a:t>1</a:t>
            </a:r>
            <a:endParaRPr lang="en-US" sz="2133" dirty="0"/>
          </a:p>
        </p:txBody>
      </p:sp>
      <p:sp>
        <p:nvSpPr>
          <p:cNvPr id="9" name="Text 7"/>
          <p:cNvSpPr/>
          <p:nvPr/>
        </p:nvSpPr>
        <p:spPr>
          <a:xfrm>
            <a:off x="268224" y="1975104"/>
            <a:ext cx="2170176" cy="548640"/>
          </a:xfrm>
          <a:prstGeom prst="rect">
            <a:avLst/>
          </a:prstGeom>
          <a:noFill/>
          <a:ln/>
        </p:spPr>
        <p:txBody>
          <a:bodyPr wrap="square" rtlCol="0" anchor="ctr"/>
          <a:lstStyle/>
          <a:p>
            <a:pPr algn="ctr"/>
            <a:r>
              <a:rPr lang="en-US" sz="2400" b="1" dirty="0">
                <a:solidFill>
                  <a:srgbClr val="E8B400"/>
                </a:solidFill>
                <a:latin typeface="Calibri" pitchFamily="34" charset="0"/>
                <a:ea typeface="Calibri" pitchFamily="34" charset="-122"/>
                <a:cs typeface="Calibri" pitchFamily="34" charset="-120"/>
              </a:rPr>
              <a:t>Data Source</a:t>
            </a:r>
            <a:endParaRPr lang="en-US" sz="2400" dirty="0"/>
          </a:p>
        </p:txBody>
      </p:sp>
      <p:sp>
        <p:nvSpPr>
          <p:cNvPr id="10" name="Text 8"/>
          <p:cNvSpPr/>
          <p:nvPr/>
        </p:nvSpPr>
        <p:spPr>
          <a:xfrm>
            <a:off x="268224" y="2560320"/>
            <a:ext cx="2170176" cy="2743200"/>
          </a:xfrm>
          <a:prstGeom prst="rect">
            <a:avLst/>
          </a:prstGeom>
          <a:noFill/>
          <a:ln/>
        </p:spPr>
        <p:txBody>
          <a:bodyPr wrap="square" rtlCol="0" anchor="t"/>
          <a:lstStyle/>
          <a:p>
            <a:pPr algn="ctr"/>
            <a:r>
              <a:rPr lang="en-US" sz="1600" dirty="0">
                <a:solidFill>
                  <a:srgbClr val="C5CFE0"/>
                </a:solidFill>
                <a:latin typeface="Calibri" pitchFamily="34" charset="0"/>
                <a:ea typeface="Calibri" pitchFamily="34" charset="-122"/>
                <a:cs typeface="Calibri" pitchFamily="34" charset="-120"/>
              </a:rPr>
              <a:t>Scopus database</a:t>
            </a:r>
            <a:endParaRPr lang="en-US" sz="1600" dirty="0"/>
          </a:p>
          <a:p>
            <a:pPr algn="ctr"/>
            <a:r>
              <a:rPr lang="en-US" sz="1600" dirty="0">
                <a:solidFill>
                  <a:srgbClr val="C5CFE0"/>
                </a:solidFill>
                <a:latin typeface="Calibri" pitchFamily="34" charset="0"/>
                <a:ea typeface="Calibri" pitchFamily="34" charset="-122"/>
                <a:cs typeface="Calibri" pitchFamily="34" charset="-120"/>
              </a:rPr>
              <a:t>Search: 2 April 2026</a:t>
            </a:r>
            <a:endParaRPr lang="en-US" sz="1600" dirty="0"/>
          </a:p>
          <a:p>
            <a:pPr algn="ctr"/>
            <a:r>
              <a:rPr lang="en-US" sz="1600" dirty="0">
                <a:solidFill>
                  <a:srgbClr val="C5CFE0"/>
                </a:solidFill>
                <a:latin typeface="Calibri" pitchFamily="34" charset="0"/>
                <a:ea typeface="Calibri" pitchFamily="34" charset="-122"/>
                <a:cs typeface="Calibri" pitchFamily="34" charset="-120"/>
              </a:rPr>
              <a:t>Period: 2015–2026</a:t>
            </a:r>
            <a:endParaRPr lang="en-US" sz="1600" dirty="0"/>
          </a:p>
        </p:txBody>
      </p:sp>
      <p:sp>
        <p:nvSpPr>
          <p:cNvPr id="11" name="Shape 9"/>
          <p:cNvSpPr/>
          <p:nvPr/>
        </p:nvSpPr>
        <p:spPr>
          <a:xfrm>
            <a:off x="2438400" y="3401568"/>
            <a:ext cx="170688" cy="0"/>
          </a:xfrm>
          <a:prstGeom prst="line">
            <a:avLst/>
          </a:prstGeom>
          <a:noFill/>
          <a:ln w="25400">
            <a:solidFill>
              <a:srgbClr val="E8B400"/>
            </a:solidFill>
            <a:prstDash val="solid"/>
          </a:ln>
        </p:spPr>
        <p:txBody>
          <a:bodyPr/>
          <a:lstStyle/>
          <a:p>
            <a:endParaRPr lang="en-US" sz="2400"/>
          </a:p>
        </p:txBody>
      </p:sp>
      <p:sp>
        <p:nvSpPr>
          <p:cNvPr id="12" name="Text 10"/>
          <p:cNvSpPr/>
          <p:nvPr/>
        </p:nvSpPr>
        <p:spPr>
          <a:xfrm>
            <a:off x="2535936" y="3206496"/>
            <a:ext cx="243840" cy="390144"/>
          </a:xfrm>
          <a:prstGeom prst="rect">
            <a:avLst/>
          </a:prstGeom>
          <a:noFill/>
          <a:ln/>
        </p:spPr>
        <p:txBody>
          <a:bodyPr wrap="square" rtlCol="0" anchor="ctr"/>
          <a:lstStyle/>
          <a:p>
            <a:pPr algn="ctr"/>
            <a:r>
              <a:rPr lang="en-US" sz="2400" dirty="0">
                <a:solidFill>
                  <a:srgbClr val="E8B400"/>
                </a:solidFill>
              </a:rPr>
              <a:t>›</a:t>
            </a:r>
            <a:endParaRPr lang="en-US" sz="2400" dirty="0"/>
          </a:p>
        </p:txBody>
      </p:sp>
      <p:sp>
        <p:nvSpPr>
          <p:cNvPr id="13" name="Shape 11"/>
          <p:cNvSpPr/>
          <p:nvPr/>
        </p:nvSpPr>
        <p:spPr>
          <a:xfrm>
            <a:off x="2609088" y="1146048"/>
            <a:ext cx="2170176" cy="4511040"/>
          </a:xfrm>
          <a:prstGeom prst="rect">
            <a:avLst/>
          </a:prstGeom>
          <a:solidFill>
            <a:srgbClr val="152B52"/>
          </a:solidFill>
          <a:ln w="12700">
            <a:solidFill>
              <a:srgbClr val="2B5FA8"/>
            </a:solidFill>
            <a:prstDash val="solid"/>
          </a:ln>
        </p:spPr>
        <p:txBody>
          <a:bodyPr/>
          <a:lstStyle/>
          <a:p>
            <a:endParaRPr lang="en-US" sz="2400"/>
          </a:p>
        </p:txBody>
      </p:sp>
      <p:sp>
        <p:nvSpPr>
          <p:cNvPr id="14" name="Shape 12"/>
          <p:cNvSpPr/>
          <p:nvPr/>
        </p:nvSpPr>
        <p:spPr>
          <a:xfrm>
            <a:off x="3389376" y="1219200"/>
            <a:ext cx="609600" cy="609600"/>
          </a:xfrm>
          <a:prstGeom prst="ellipse">
            <a:avLst/>
          </a:prstGeom>
          <a:solidFill>
            <a:srgbClr val="E8B400"/>
          </a:solidFill>
          <a:ln w="12700">
            <a:solidFill>
              <a:srgbClr val="E8B400"/>
            </a:solidFill>
            <a:prstDash val="solid"/>
          </a:ln>
        </p:spPr>
        <p:txBody>
          <a:bodyPr/>
          <a:lstStyle/>
          <a:p>
            <a:endParaRPr lang="en-US" sz="2400"/>
          </a:p>
        </p:txBody>
      </p:sp>
      <p:sp>
        <p:nvSpPr>
          <p:cNvPr id="15" name="Text 13"/>
          <p:cNvSpPr/>
          <p:nvPr/>
        </p:nvSpPr>
        <p:spPr>
          <a:xfrm>
            <a:off x="3389376" y="1219200"/>
            <a:ext cx="609600" cy="609600"/>
          </a:xfrm>
          <a:prstGeom prst="rect">
            <a:avLst/>
          </a:prstGeom>
          <a:noFill/>
          <a:ln/>
        </p:spPr>
        <p:txBody>
          <a:bodyPr wrap="square" lIns="0" tIns="0" rIns="0" bIns="0" rtlCol="0" anchor="ctr"/>
          <a:lstStyle/>
          <a:p>
            <a:pPr algn="ctr"/>
            <a:r>
              <a:rPr lang="en-US" sz="2133" b="1" dirty="0">
                <a:solidFill>
                  <a:srgbClr val="122952"/>
                </a:solidFill>
              </a:rPr>
              <a:t>2</a:t>
            </a:r>
            <a:endParaRPr lang="en-US" sz="2133" dirty="0"/>
          </a:p>
        </p:txBody>
      </p:sp>
      <p:sp>
        <p:nvSpPr>
          <p:cNvPr id="16" name="Text 14"/>
          <p:cNvSpPr/>
          <p:nvPr/>
        </p:nvSpPr>
        <p:spPr>
          <a:xfrm>
            <a:off x="2609088" y="1975104"/>
            <a:ext cx="2170176" cy="548640"/>
          </a:xfrm>
          <a:prstGeom prst="rect">
            <a:avLst/>
          </a:prstGeom>
          <a:noFill/>
          <a:ln/>
        </p:spPr>
        <p:txBody>
          <a:bodyPr wrap="square" rtlCol="0" anchor="ctr"/>
          <a:lstStyle/>
          <a:p>
            <a:pPr algn="ctr"/>
            <a:r>
              <a:rPr lang="en-US" sz="2400" b="1" dirty="0">
                <a:solidFill>
                  <a:srgbClr val="E8B400"/>
                </a:solidFill>
                <a:latin typeface="Calibri" pitchFamily="34" charset="0"/>
                <a:ea typeface="Calibri" pitchFamily="34" charset="-122"/>
                <a:cs typeface="Calibri" pitchFamily="34" charset="-120"/>
              </a:rPr>
              <a:t>Search Strategy</a:t>
            </a:r>
            <a:endParaRPr lang="en-US" sz="2400" dirty="0"/>
          </a:p>
        </p:txBody>
      </p:sp>
      <p:sp>
        <p:nvSpPr>
          <p:cNvPr id="17" name="Text 15"/>
          <p:cNvSpPr/>
          <p:nvPr/>
        </p:nvSpPr>
        <p:spPr>
          <a:xfrm>
            <a:off x="2609088" y="2560320"/>
            <a:ext cx="2170176" cy="2743200"/>
          </a:xfrm>
          <a:prstGeom prst="rect">
            <a:avLst/>
          </a:prstGeom>
          <a:noFill/>
          <a:ln/>
        </p:spPr>
        <p:txBody>
          <a:bodyPr wrap="square" rtlCol="0" anchor="t"/>
          <a:lstStyle/>
          <a:p>
            <a:pPr algn="ctr"/>
            <a:r>
              <a:rPr lang="en-US" sz="1600" dirty="0">
                <a:solidFill>
                  <a:srgbClr val="C5CFE0"/>
                </a:solidFill>
                <a:latin typeface="Calibri" pitchFamily="34" charset="0"/>
                <a:ea typeface="Calibri" pitchFamily="34" charset="-122"/>
                <a:cs typeface="Calibri" pitchFamily="34" charset="-120"/>
              </a:rPr>
              <a:t>TITLE-ABS-KEY:</a:t>
            </a:r>
            <a:endParaRPr lang="en-US" sz="1600" dirty="0"/>
          </a:p>
          <a:p>
            <a:pPr algn="ctr"/>
            <a:r>
              <a:rPr lang="en-US" sz="1600" dirty="0">
                <a:solidFill>
                  <a:srgbClr val="C5CFE0"/>
                </a:solidFill>
                <a:latin typeface="Calibri" pitchFamily="34" charset="0"/>
                <a:ea typeface="Calibri" pitchFamily="34" charset="-122"/>
                <a:cs typeface="Calibri" pitchFamily="34" charset="-120"/>
              </a:rPr>
              <a:t>food security + energy /</a:t>
            </a:r>
            <a:endParaRPr lang="en-US" sz="1600" dirty="0"/>
          </a:p>
          <a:p>
            <a:pPr algn="ctr"/>
            <a:r>
              <a:rPr lang="en-US" sz="1600" dirty="0">
                <a:solidFill>
                  <a:srgbClr val="C5CFE0"/>
                </a:solidFill>
                <a:latin typeface="Calibri" pitchFamily="34" charset="0"/>
                <a:ea typeface="Calibri" pitchFamily="34" charset="-122"/>
                <a:cs typeface="Calibri" pitchFamily="34" charset="-120"/>
              </a:rPr>
              <a:t>environment + food systems</a:t>
            </a:r>
            <a:endParaRPr lang="en-US" sz="1600" dirty="0"/>
          </a:p>
        </p:txBody>
      </p:sp>
      <p:sp>
        <p:nvSpPr>
          <p:cNvPr id="18" name="Shape 16"/>
          <p:cNvSpPr/>
          <p:nvPr/>
        </p:nvSpPr>
        <p:spPr>
          <a:xfrm>
            <a:off x="4779264" y="3401568"/>
            <a:ext cx="170688" cy="0"/>
          </a:xfrm>
          <a:prstGeom prst="line">
            <a:avLst/>
          </a:prstGeom>
          <a:noFill/>
          <a:ln w="25400">
            <a:solidFill>
              <a:srgbClr val="E8B400"/>
            </a:solidFill>
            <a:prstDash val="solid"/>
          </a:ln>
        </p:spPr>
        <p:txBody>
          <a:bodyPr/>
          <a:lstStyle/>
          <a:p>
            <a:endParaRPr lang="en-US" sz="2400"/>
          </a:p>
        </p:txBody>
      </p:sp>
      <p:sp>
        <p:nvSpPr>
          <p:cNvPr id="19" name="Text 17"/>
          <p:cNvSpPr/>
          <p:nvPr/>
        </p:nvSpPr>
        <p:spPr>
          <a:xfrm>
            <a:off x="4876800" y="3206496"/>
            <a:ext cx="243840" cy="390144"/>
          </a:xfrm>
          <a:prstGeom prst="rect">
            <a:avLst/>
          </a:prstGeom>
          <a:noFill/>
          <a:ln/>
        </p:spPr>
        <p:txBody>
          <a:bodyPr wrap="square" rtlCol="0" anchor="ctr"/>
          <a:lstStyle/>
          <a:p>
            <a:pPr algn="ctr"/>
            <a:r>
              <a:rPr lang="en-US" sz="2400" dirty="0">
                <a:solidFill>
                  <a:srgbClr val="E8B400"/>
                </a:solidFill>
              </a:rPr>
              <a:t>›</a:t>
            </a:r>
            <a:endParaRPr lang="en-US" sz="2400" dirty="0"/>
          </a:p>
        </p:txBody>
      </p:sp>
      <p:sp>
        <p:nvSpPr>
          <p:cNvPr id="20" name="Shape 18"/>
          <p:cNvSpPr/>
          <p:nvPr/>
        </p:nvSpPr>
        <p:spPr>
          <a:xfrm>
            <a:off x="4949952" y="1146048"/>
            <a:ext cx="2170176" cy="4511040"/>
          </a:xfrm>
          <a:prstGeom prst="rect">
            <a:avLst/>
          </a:prstGeom>
          <a:solidFill>
            <a:srgbClr val="152B52"/>
          </a:solidFill>
          <a:ln w="12700">
            <a:solidFill>
              <a:srgbClr val="2B5FA8"/>
            </a:solidFill>
            <a:prstDash val="solid"/>
          </a:ln>
        </p:spPr>
        <p:txBody>
          <a:bodyPr/>
          <a:lstStyle/>
          <a:p>
            <a:endParaRPr lang="en-US" sz="2400"/>
          </a:p>
        </p:txBody>
      </p:sp>
      <p:sp>
        <p:nvSpPr>
          <p:cNvPr id="21" name="Shape 19"/>
          <p:cNvSpPr/>
          <p:nvPr/>
        </p:nvSpPr>
        <p:spPr>
          <a:xfrm>
            <a:off x="5730240" y="1219200"/>
            <a:ext cx="609600" cy="609600"/>
          </a:xfrm>
          <a:prstGeom prst="ellipse">
            <a:avLst/>
          </a:prstGeom>
          <a:solidFill>
            <a:srgbClr val="E8B400"/>
          </a:solidFill>
          <a:ln w="12700">
            <a:solidFill>
              <a:srgbClr val="E8B400"/>
            </a:solidFill>
            <a:prstDash val="solid"/>
          </a:ln>
        </p:spPr>
        <p:txBody>
          <a:bodyPr/>
          <a:lstStyle/>
          <a:p>
            <a:endParaRPr lang="en-US" sz="2400"/>
          </a:p>
        </p:txBody>
      </p:sp>
      <p:sp>
        <p:nvSpPr>
          <p:cNvPr id="22" name="Text 20"/>
          <p:cNvSpPr/>
          <p:nvPr/>
        </p:nvSpPr>
        <p:spPr>
          <a:xfrm>
            <a:off x="5730240" y="1219200"/>
            <a:ext cx="609600" cy="609600"/>
          </a:xfrm>
          <a:prstGeom prst="rect">
            <a:avLst/>
          </a:prstGeom>
          <a:noFill/>
          <a:ln/>
        </p:spPr>
        <p:txBody>
          <a:bodyPr wrap="square" lIns="0" tIns="0" rIns="0" bIns="0" rtlCol="0" anchor="ctr"/>
          <a:lstStyle/>
          <a:p>
            <a:pPr algn="ctr"/>
            <a:r>
              <a:rPr lang="en-US" sz="2133" b="1" dirty="0">
                <a:solidFill>
                  <a:srgbClr val="122952"/>
                </a:solidFill>
              </a:rPr>
              <a:t>3</a:t>
            </a:r>
            <a:endParaRPr lang="en-US" sz="2133" dirty="0"/>
          </a:p>
        </p:txBody>
      </p:sp>
      <p:sp>
        <p:nvSpPr>
          <p:cNvPr id="23" name="Text 21"/>
          <p:cNvSpPr/>
          <p:nvPr/>
        </p:nvSpPr>
        <p:spPr>
          <a:xfrm>
            <a:off x="4949952" y="1975104"/>
            <a:ext cx="2170176" cy="548640"/>
          </a:xfrm>
          <a:prstGeom prst="rect">
            <a:avLst/>
          </a:prstGeom>
          <a:noFill/>
          <a:ln/>
        </p:spPr>
        <p:txBody>
          <a:bodyPr wrap="square" rtlCol="0" anchor="ctr"/>
          <a:lstStyle/>
          <a:p>
            <a:pPr algn="ctr"/>
            <a:r>
              <a:rPr lang="en-US" sz="2400" b="1" dirty="0">
                <a:solidFill>
                  <a:srgbClr val="E8B400"/>
                </a:solidFill>
                <a:latin typeface="Calibri" pitchFamily="34" charset="0"/>
                <a:ea typeface="Calibri" pitchFamily="34" charset="-122"/>
                <a:cs typeface="Calibri" pitchFamily="34" charset="-120"/>
              </a:rPr>
              <a:t>PRISMA Screening</a:t>
            </a:r>
            <a:endParaRPr lang="en-US" sz="2400" dirty="0"/>
          </a:p>
        </p:txBody>
      </p:sp>
      <p:sp>
        <p:nvSpPr>
          <p:cNvPr id="24" name="Text 22"/>
          <p:cNvSpPr/>
          <p:nvPr/>
        </p:nvSpPr>
        <p:spPr>
          <a:xfrm>
            <a:off x="4949952" y="2560320"/>
            <a:ext cx="2170176" cy="2743200"/>
          </a:xfrm>
          <a:prstGeom prst="rect">
            <a:avLst/>
          </a:prstGeom>
          <a:noFill/>
          <a:ln/>
        </p:spPr>
        <p:txBody>
          <a:bodyPr wrap="square" rtlCol="0" anchor="t"/>
          <a:lstStyle/>
          <a:p>
            <a:pPr algn="ctr"/>
            <a:r>
              <a:rPr lang="en-US" sz="1600" dirty="0">
                <a:solidFill>
                  <a:srgbClr val="C5CFE0"/>
                </a:solidFill>
                <a:latin typeface="Calibri" pitchFamily="34" charset="0"/>
                <a:ea typeface="Calibri" pitchFamily="34" charset="-122"/>
                <a:cs typeface="Calibri" pitchFamily="34" charset="-120"/>
              </a:rPr>
              <a:t>23,378 initial records</a:t>
            </a:r>
            <a:endParaRPr lang="en-US" sz="1600" dirty="0"/>
          </a:p>
          <a:p>
            <a:pPr algn="ctr"/>
            <a:r>
              <a:rPr lang="en-US" sz="1600" dirty="0">
                <a:solidFill>
                  <a:srgbClr val="C5CFE0"/>
                </a:solidFill>
                <a:latin typeface="Calibri" pitchFamily="34" charset="0"/>
                <a:ea typeface="Calibri" pitchFamily="34" charset="-122"/>
                <a:cs typeface="Calibri" pitchFamily="34" charset="-120"/>
              </a:rPr>
              <a:t>→ 18,846 final docs</a:t>
            </a:r>
            <a:endParaRPr lang="en-US" sz="1600" dirty="0"/>
          </a:p>
          <a:p>
            <a:pPr algn="ctr"/>
            <a:r>
              <a:rPr lang="en-US" sz="1600" dirty="0">
                <a:solidFill>
                  <a:srgbClr val="C5CFE0"/>
                </a:solidFill>
                <a:latin typeface="Calibri" pitchFamily="34" charset="0"/>
                <a:ea typeface="Calibri" pitchFamily="34" charset="-122"/>
                <a:cs typeface="Calibri" pitchFamily="34" charset="-120"/>
              </a:rPr>
              <a:t>(SPAR-4-SLR protocol)</a:t>
            </a:r>
            <a:endParaRPr lang="en-US" sz="1600" dirty="0"/>
          </a:p>
        </p:txBody>
      </p:sp>
      <p:sp>
        <p:nvSpPr>
          <p:cNvPr id="25" name="Shape 23"/>
          <p:cNvSpPr/>
          <p:nvPr/>
        </p:nvSpPr>
        <p:spPr>
          <a:xfrm>
            <a:off x="7120128" y="3401568"/>
            <a:ext cx="170688" cy="0"/>
          </a:xfrm>
          <a:prstGeom prst="line">
            <a:avLst/>
          </a:prstGeom>
          <a:noFill/>
          <a:ln w="25400">
            <a:solidFill>
              <a:srgbClr val="E8B400"/>
            </a:solidFill>
            <a:prstDash val="solid"/>
          </a:ln>
        </p:spPr>
        <p:txBody>
          <a:bodyPr/>
          <a:lstStyle/>
          <a:p>
            <a:endParaRPr lang="en-US" sz="2400"/>
          </a:p>
        </p:txBody>
      </p:sp>
      <p:sp>
        <p:nvSpPr>
          <p:cNvPr id="26" name="Text 24"/>
          <p:cNvSpPr/>
          <p:nvPr/>
        </p:nvSpPr>
        <p:spPr>
          <a:xfrm>
            <a:off x="7217664" y="3206496"/>
            <a:ext cx="243840" cy="390144"/>
          </a:xfrm>
          <a:prstGeom prst="rect">
            <a:avLst/>
          </a:prstGeom>
          <a:noFill/>
          <a:ln/>
        </p:spPr>
        <p:txBody>
          <a:bodyPr wrap="square" rtlCol="0" anchor="ctr"/>
          <a:lstStyle/>
          <a:p>
            <a:pPr algn="ctr"/>
            <a:r>
              <a:rPr lang="en-US" sz="2400" dirty="0">
                <a:solidFill>
                  <a:srgbClr val="E8B400"/>
                </a:solidFill>
              </a:rPr>
              <a:t>›</a:t>
            </a:r>
            <a:endParaRPr lang="en-US" sz="2400" dirty="0"/>
          </a:p>
        </p:txBody>
      </p:sp>
      <p:sp>
        <p:nvSpPr>
          <p:cNvPr id="27" name="Shape 25"/>
          <p:cNvSpPr/>
          <p:nvPr/>
        </p:nvSpPr>
        <p:spPr>
          <a:xfrm>
            <a:off x="7290816" y="1146048"/>
            <a:ext cx="2170176" cy="4511040"/>
          </a:xfrm>
          <a:prstGeom prst="rect">
            <a:avLst/>
          </a:prstGeom>
          <a:solidFill>
            <a:srgbClr val="152B52"/>
          </a:solidFill>
          <a:ln w="12700">
            <a:solidFill>
              <a:srgbClr val="2B5FA8"/>
            </a:solidFill>
            <a:prstDash val="solid"/>
          </a:ln>
        </p:spPr>
        <p:txBody>
          <a:bodyPr/>
          <a:lstStyle/>
          <a:p>
            <a:endParaRPr lang="en-US" sz="2400"/>
          </a:p>
        </p:txBody>
      </p:sp>
      <p:sp>
        <p:nvSpPr>
          <p:cNvPr id="28" name="Shape 26"/>
          <p:cNvSpPr/>
          <p:nvPr/>
        </p:nvSpPr>
        <p:spPr>
          <a:xfrm>
            <a:off x="8071104" y="1219200"/>
            <a:ext cx="609600" cy="609600"/>
          </a:xfrm>
          <a:prstGeom prst="ellipse">
            <a:avLst/>
          </a:prstGeom>
          <a:solidFill>
            <a:srgbClr val="E8B400"/>
          </a:solidFill>
          <a:ln w="12700">
            <a:solidFill>
              <a:srgbClr val="E8B400"/>
            </a:solidFill>
            <a:prstDash val="solid"/>
          </a:ln>
        </p:spPr>
        <p:txBody>
          <a:bodyPr/>
          <a:lstStyle/>
          <a:p>
            <a:endParaRPr lang="en-US" sz="2400"/>
          </a:p>
        </p:txBody>
      </p:sp>
      <p:sp>
        <p:nvSpPr>
          <p:cNvPr id="29" name="Text 27"/>
          <p:cNvSpPr/>
          <p:nvPr/>
        </p:nvSpPr>
        <p:spPr>
          <a:xfrm>
            <a:off x="8071104" y="1219200"/>
            <a:ext cx="609600" cy="609600"/>
          </a:xfrm>
          <a:prstGeom prst="rect">
            <a:avLst/>
          </a:prstGeom>
          <a:noFill/>
          <a:ln/>
        </p:spPr>
        <p:txBody>
          <a:bodyPr wrap="square" lIns="0" tIns="0" rIns="0" bIns="0" rtlCol="0" anchor="ctr"/>
          <a:lstStyle/>
          <a:p>
            <a:pPr algn="ctr"/>
            <a:r>
              <a:rPr lang="en-US" sz="2133" b="1" dirty="0">
                <a:solidFill>
                  <a:srgbClr val="122952"/>
                </a:solidFill>
              </a:rPr>
              <a:t>4</a:t>
            </a:r>
            <a:endParaRPr lang="en-US" sz="2133" dirty="0"/>
          </a:p>
        </p:txBody>
      </p:sp>
      <p:sp>
        <p:nvSpPr>
          <p:cNvPr id="30" name="Text 28"/>
          <p:cNvSpPr/>
          <p:nvPr/>
        </p:nvSpPr>
        <p:spPr>
          <a:xfrm>
            <a:off x="7290816" y="1975104"/>
            <a:ext cx="2170176" cy="548640"/>
          </a:xfrm>
          <a:prstGeom prst="rect">
            <a:avLst/>
          </a:prstGeom>
          <a:noFill/>
          <a:ln/>
        </p:spPr>
        <p:txBody>
          <a:bodyPr wrap="square" rtlCol="0" anchor="ctr"/>
          <a:lstStyle/>
          <a:p>
            <a:pPr algn="ctr"/>
            <a:r>
              <a:rPr lang="en-US" sz="2400" b="1" dirty="0">
                <a:solidFill>
                  <a:srgbClr val="E8B400"/>
                </a:solidFill>
                <a:latin typeface="Calibri" pitchFamily="34" charset="0"/>
                <a:ea typeface="Calibri" pitchFamily="34" charset="-122"/>
                <a:cs typeface="Calibri" pitchFamily="34" charset="-120"/>
              </a:rPr>
              <a:t>Bibliometrix (R)</a:t>
            </a:r>
            <a:endParaRPr lang="en-US" sz="2400" dirty="0"/>
          </a:p>
        </p:txBody>
      </p:sp>
      <p:sp>
        <p:nvSpPr>
          <p:cNvPr id="31" name="Text 29"/>
          <p:cNvSpPr/>
          <p:nvPr/>
        </p:nvSpPr>
        <p:spPr>
          <a:xfrm>
            <a:off x="7290816" y="2560320"/>
            <a:ext cx="2170176" cy="2743200"/>
          </a:xfrm>
          <a:prstGeom prst="rect">
            <a:avLst/>
          </a:prstGeom>
          <a:noFill/>
          <a:ln/>
        </p:spPr>
        <p:txBody>
          <a:bodyPr wrap="square" rtlCol="0" anchor="t"/>
          <a:lstStyle/>
          <a:p>
            <a:pPr algn="ctr"/>
            <a:r>
              <a:rPr lang="en-US" sz="1600" dirty="0">
                <a:solidFill>
                  <a:srgbClr val="C5CFE0"/>
                </a:solidFill>
                <a:latin typeface="Calibri" pitchFamily="34" charset="0"/>
                <a:ea typeface="Calibri" pitchFamily="34" charset="-122"/>
                <a:cs typeface="Calibri" pitchFamily="34" charset="-120"/>
              </a:rPr>
              <a:t>Biblioshiny platform</a:t>
            </a:r>
            <a:endParaRPr lang="en-US" sz="1600" dirty="0"/>
          </a:p>
          <a:p>
            <a:pPr algn="ctr"/>
            <a:r>
              <a:rPr lang="en-US" sz="1600" dirty="0">
                <a:solidFill>
                  <a:srgbClr val="C5CFE0"/>
                </a:solidFill>
                <a:latin typeface="Calibri" pitchFamily="34" charset="0"/>
                <a:ea typeface="Calibri" pitchFamily="34" charset="-122"/>
                <a:cs typeface="Calibri" pitchFamily="34" charset="-120"/>
              </a:rPr>
              <a:t>Performance analysis</a:t>
            </a:r>
            <a:endParaRPr lang="en-US" sz="1600" dirty="0"/>
          </a:p>
          <a:p>
            <a:pPr algn="ctr"/>
            <a:r>
              <a:rPr lang="en-US" sz="1600" dirty="0">
                <a:solidFill>
                  <a:srgbClr val="C5CFE0"/>
                </a:solidFill>
                <a:latin typeface="Calibri" pitchFamily="34" charset="0"/>
                <a:ea typeface="Calibri" pitchFamily="34" charset="-122"/>
                <a:cs typeface="Calibri" pitchFamily="34" charset="-120"/>
              </a:rPr>
              <a:t>Thematic mapping</a:t>
            </a:r>
            <a:endParaRPr lang="en-US" sz="1600" dirty="0"/>
          </a:p>
        </p:txBody>
      </p:sp>
      <p:sp>
        <p:nvSpPr>
          <p:cNvPr id="32" name="Shape 30"/>
          <p:cNvSpPr/>
          <p:nvPr/>
        </p:nvSpPr>
        <p:spPr>
          <a:xfrm>
            <a:off x="9460992" y="3401568"/>
            <a:ext cx="170688" cy="0"/>
          </a:xfrm>
          <a:prstGeom prst="line">
            <a:avLst/>
          </a:prstGeom>
          <a:noFill/>
          <a:ln w="25400">
            <a:solidFill>
              <a:srgbClr val="E8B400"/>
            </a:solidFill>
            <a:prstDash val="solid"/>
          </a:ln>
        </p:spPr>
        <p:txBody>
          <a:bodyPr/>
          <a:lstStyle/>
          <a:p>
            <a:endParaRPr lang="en-US" sz="2400"/>
          </a:p>
        </p:txBody>
      </p:sp>
      <p:sp>
        <p:nvSpPr>
          <p:cNvPr id="33" name="Text 31"/>
          <p:cNvSpPr/>
          <p:nvPr/>
        </p:nvSpPr>
        <p:spPr>
          <a:xfrm>
            <a:off x="9558528" y="3206496"/>
            <a:ext cx="243840" cy="390144"/>
          </a:xfrm>
          <a:prstGeom prst="rect">
            <a:avLst/>
          </a:prstGeom>
          <a:noFill/>
          <a:ln/>
        </p:spPr>
        <p:txBody>
          <a:bodyPr wrap="square" rtlCol="0" anchor="ctr"/>
          <a:lstStyle/>
          <a:p>
            <a:pPr algn="ctr"/>
            <a:r>
              <a:rPr lang="en-US" sz="2400" dirty="0">
                <a:solidFill>
                  <a:srgbClr val="E8B400"/>
                </a:solidFill>
              </a:rPr>
              <a:t>›</a:t>
            </a:r>
            <a:endParaRPr lang="en-US" sz="2400" dirty="0"/>
          </a:p>
        </p:txBody>
      </p:sp>
      <p:sp>
        <p:nvSpPr>
          <p:cNvPr id="34" name="Shape 32"/>
          <p:cNvSpPr/>
          <p:nvPr/>
        </p:nvSpPr>
        <p:spPr>
          <a:xfrm>
            <a:off x="9631680" y="1146048"/>
            <a:ext cx="2170176" cy="4511040"/>
          </a:xfrm>
          <a:prstGeom prst="rect">
            <a:avLst/>
          </a:prstGeom>
          <a:solidFill>
            <a:srgbClr val="152B52"/>
          </a:solidFill>
          <a:ln w="12700">
            <a:solidFill>
              <a:srgbClr val="2B5FA8"/>
            </a:solidFill>
            <a:prstDash val="solid"/>
          </a:ln>
        </p:spPr>
        <p:txBody>
          <a:bodyPr/>
          <a:lstStyle/>
          <a:p>
            <a:endParaRPr lang="en-US" sz="2400"/>
          </a:p>
        </p:txBody>
      </p:sp>
      <p:sp>
        <p:nvSpPr>
          <p:cNvPr id="35" name="Shape 33"/>
          <p:cNvSpPr/>
          <p:nvPr/>
        </p:nvSpPr>
        <p:spPr>
          <a:xfrm>
            <a:off x="10411968" y="1219200"/>
            <a:ext cx="609600" cy="609600"/>
          </a:xfrm>
          <a:prstGeom prst="ellipse">
            <a:avLst/>
          </a:prstGeom>
          <a:solidFill>
            <a:srgbClr val="E8B400"/>
          </a:solidFill>
          <a:ln w="12700">
            <a:solidFill>
              <a:srgbClr val="E8B400"/>
            </a:solidFill>
            <a:prstDash val="solid"/>
          </a:ln>
        </p:spPr>
        <p:txBody>
          <a:bodyPr/>
          <a:lstStyle/>
          <a:p>
            <a:endParaRPr lang="en-US" sz="2400"/>
          </a:p>
        </p:txBody>
      </p:sp>
      <p:sp>
        <p:nvSpPr>
          <p:cNvPr id="36" name="Text 34"/>
          <p:cNvSpPr/>
          <p:nvPr/>
        </p:nvSpPr>
        <p:spPr>
          <a:xfrm>
            <a:off x="10411968" y="1219200"/>
            <a:ext cx="609600" cy="609600"/>
          </a:xfrm>
          <a:prstGeom prst="rect">
            <a:avLst/>
          </a:prstGeom>
          <a:noFill/>
          <a:ln/>
        </p:spPr>
        <p:txBody>
          <a:bodyPr wrap="square" lIns="0" tIns="0" rIns="0" bIns="0" rtlCol="0" anchor="ctr"/>
          <a:lstStyle/>
          <a:p>
            <a:pPr algn="ctr"/>
            <a:r>
              <a:rPr lang="en-US" sz="2133" b="1" dirty="0">
                <a:solidFill>
                  <a:srgbClr val="122952"/>
                </a:solidFill>
              </a:rPr>
              <a:t>5</a:t>
            </a:r>
            <a:endParaRPr lang="en-US" sz="2133" dirty="0"/>
          </a:p>
        </p:txBody>
      </p:sp>
      <p:sp>
        <p:nvSpPr>
          <p:cNvPr id="37" name="Text 35"/>
          <p:cNvSpPr/>
          <p:nvPr/>
        </p:nvSpPr>
        <p:spPr>
          <a:xfrm>
            <a:off x="9631680" y="1975104"/>
            <a:ext cx="2170176" cy="548640"/>
          </a:xfrm>
          <a:prstGeom prst="rect">
            <a:avLst/>
          </a:prstGeom>
          <a:noFill/>
          <a:ln/>
        </p:spPr>
        <p:txBody>
          <a:bodyPr wrap="square" rtlCol="0" anchor="ctr"/>
          <a:lstStyle/>
          <a:p>
            <a:pPr algn="ctr"/>
            <a:r>
              <a:rPr lang="en-US" sz="2400" b="1" dirty="0">
                <a:solidFill>
                  <a:srgbClr val="E8B400"/>
                </a:solidFill>
                <a:latin typeface="Calibri" pitchFamily="34" charset="0"/>
                <a:ea typeface="Calibri" pitchFamily="34" charset="-122"/>
                <a:cs typeface="Calibri" pitchFamily="34" charset="-120"/>
              </a:rPr>
              <a:t>VOSviewer</a:t>
            </a:r>
            <a:endParaRPr lang="en-US" sz="2400" dirty="0"/>
          </a:p>
        </p:txBody>
      </p:sp>
      <p:sp>
        <p:nvSpPr>
          <p:cNvPr id="38" name="Text 36"/>
          <p:cNvSpPr/>
          <p:nvPr/>
        </p:nvSpPr>
        <p:spPr>
          <a:xfrm>
            <a:off x="9631680" y="2560320"/>
            <a:ext cx="2170176" cy="2743200"/>
          </a:xfrm>
          <a:prstGeom prst="rect">
            <a:avLst/>
          </a:prstGeom>
          <a:noFill/>
          <a:ln/>
        </p:spPr>
        <p:txBody>
          <a:bodyPr wrap="square" rtlCol="0" anchor="t"/>
          <a:lstStyle/>
          <a:p>
            <a:pPr algn="ctr"/>
            <a:r>
              <a:rPr lang="en-US" sz="1600" dirty="0">
                <a:solidFill>
                  <a:srgbClr val="C5CFE0"/>
                </a:solidFill>
                <a:latin typeface="Calibri" pitchFamily="34" charset="0"/>
                <a:ea typeface="Calibri" pitchFamily="34" charset="-122"/>
                <a:cs typeface="Calibri" pitchFamily="34" charset="-120"/>
              </a:rPr>
              <a:t>Keyword co-occurrence</a:t>
            </a:r>
            <a:endParaRPr lang="en-US" sz="1600" dirty="0"/>
          </a:p>
          <a:p>
            <a:pPr algn="ctr"/>
            <a:r>
              <a:rPr lang="en-US" sz="1600" dirty="0">
                <a:solidFill>
                  <a:srgbClr val="C5CFE0"/>
                </a:solidFill>
                <a:latin typeface="Calibri" pitchFamily="34" charset="0"/>
                <a:ea typeface="Calibri" pitchFamily="34" charset="-122"/>
                <a:cs typeface="Calibri" pitchFamily="34" charset="-120"/>
              </a:rPr>
              <a:t>Collaboration networks</a:t>
            </a:r>
            <a:endParaRPr lang="en-US" sz="1600" dirty="0"/>
          </a:p>
          <a:p>
            <a:pPr algn="ctr"/>
            <a:r>
              <a:rPr lang="en-US" sz="1600" dirty="0">
                <a:solidFill>
                  <a:srgbClr val="C5CFE0"/>
                </a:solidFill>
                <a:latin typeface="Calibri" pitchFamily="34" charset="0"/>
                <a:ea typeface="Calibri" pitchFamily="34" charset="-122"/>
                <a:cs typeface="Calibri" pitchFamily="34" charset="-120"/>
              </a:rPr>
              <a:t>Temporal mapping</a:t>
            </a:r>
            <a:endParaRPr lang="en-US" sz="1600" dirty="0"/>
          </a:p>
        </p:txBody>
      </p:sp>
      <p:sp>
        <p:nvSpPr>
          <p:cNvPr id="39" name="Shape 37"/>
          <p:cNvSpPr/>
          <p:nvPr/>
        </p:nvSpPr>
        <p:spPr>
          <a:xfrm>
            <a:off x="268224" y="5852160"/>
            <a:ext cx="11655552" cy="609600"/>
          </a:xfrm>
          <a:prstGeom prst="rect">
            <a:avLst/>
          </a:prstGeom>
          <a:solidFill>
            <a:srgbClr val="0C1F3F"/>
          </a:solidFill>
          <a:ln w="12700">
            <a:solidFill>
              <a:srgbClr val="1A7AB5"/>
            </a:solidFill>
            <a:prstDash val="solid"/>
          </a:ln>
        </p:spPr>
        <p:txBody>
          <a:bodyPr/>
          <a:lstStyle/>
          <a:p>
            <a:endParaRPr lang="en-US" sz="2400"/>
          </a:p>
        </p:txBody>
      </p:sp>
      <p:sp>
        <p:nvSpPr>
          <p:cNvPr id="40" name="Text 38"/>
          <p:cNvSpPr/>
          <p:nvPr/>
        </p:nvSpPr>
        <p:spPr>
          <a:xfrm>
            <a:off x="268224" y="5852160"/>
            <a:ext cx="11655552" cy="609600"/>
          </a:xfrm>
          <a:prstGeom prst="rect">
            <a:avLst/>
          </a:prstGeom>
          <a:noFill/>
          <a:ln/>
        </p:spPr>
        <p:txBody>
          <a:bodyPr wrap="square" rtlCol="0" anchor="ctr"/>
          <a:lstStyle/>
          <a:p>
            <a:pPr algn="ctr"/>
            <a:r>
              <a:rPr lang="en-US" sz="1267" dirty="0">
                <a:solidFill>
                  <a:srgbClr val="C5CFE0"/>
                </a:solidFill>
              </a:rPr>
              <a:t>Filters: English only  |  2015–2026  |  Subject areas: Agriculture, Biology, Environmental Science, Energy, Engineering, Medicine, Nutrition &amp; Dietetics, Social Sciences</a:t>
            </a:r>
            <a:endParaRPr lang="en-US" sz="1267" dirty="0"/>
          </a:p>
        </p:txBody>
      </p:sp>
      <p:sp>
        <p:nvSpPr>
          <p:cNvPr id="41" name="Shape 39"/>
          <p:cNvSpPr/>
          <p:nvPr/>
        </p:nvSpPr>
        <p:spPr>
          <a:xfrm>
            <a:off x="0" y="6620256"/>
            <a:ext cx="12192000" cy="24384"/>
          </a:xfrm>
          <a:prstGeom prst="rect">
            <a:avLst/>
          </a:prstGeom>
          <a:solidFill>
            <a:srgbClr val="E8B400"/>
          </a:solidFill>
          <a:ln w="12700">
            <a:solidFill>
              <a:srgbClr val="E8B400"/>
            </a:solidFill>
            <a:prstDash val="solid"/>
          </a:ln>
        </p:spPr>
        <p:txBody>
          <a:bodyPr/>
          <a:lstStyle/>
          <a:p>
            <a:endParaRPr lang="en-US" sz="2400"/>
          </a:p>
        </p:txBody>
      </p:sp>
      <p:sp>
        <p:nvSpPr>
          <p:cNvPr id="42" name="Shape 40"/>
          <p:cNvSpPr/>
          <p:nvPr/>
        </p:nvSpPr>
        <p:spPr>
          <a:xfrm>
            <a:off x="0" y="6644640"/>
            <a:ext cx="12192000" cy="213360"/>
          </a:xfrm>
          <a:prstGeom prst="rect">
            <a:avLst/>
          </a:prstGeom>
          <a:solidFill>
            <a:srgbClr val="122952"/>
          </a:solidFill>
          <a:ln w="12700">
            <a:solidFill>
              <a:srgbClr val="122952"/>
            </a:solidFill>
            <a:prstDash val="solid"/>
          </a:ln>
        </p:spPr>
        <p:txBody>
          <a:bodyPr/>
          <a:lstStyle/>
          <a:p>
            <a:endParaRPr lang="en-US" sz="2400"/>
          </a:p>
        </p:txBody>
      </p:sp>
      <p:sp>
        <p:nvSpPr>
          <p:cNvPr id="43" name="Text 41"/>
          <p:cNvSpPr/>
          <p:nvPr/>
        </p:nvSpPr>
        <p:spPr>
          <a:xfrm>
            <a:off x="0" y="6644640"/>
            <a:ext cx="12192000" cy="213360"/>
          </a:xfrm>
          <a:prstGeom prst="rect">
            <a:avLst/>
          </a:prstGeom>
          <a:noFill/>
          <a:ln/>
        </p:spPr>
        <p:txBody>
          <a:bodyPr wrap="square" rtlCol="0" anchor="ctr"/>
          <a:lstStyle/>
          <a:p>
            <a:pPr algn="ctr"/>
            <a:r>
              <a:rPr lang="en-US" sz="1067" dirty="0">
                <a:solidFill>
                  <a:srgbClr val="C5CFE0"/>
                </a:solidFill>
              </a:rPr>
              <a:t>University of Cape Coast  •  Veritas Nobis Lumen  |  Truth, Our Guide</a:t>
            </a:r>
            <a:endParaRPr lang="en-US" sz="106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22952"/>
          </a:solidFill>
          <a:ln w="12700">
            <a:solidFill>
              <a:srgbClr val="122952"/>
            </a:solidFill>
            <a:prstDash val="solid"/>
          </a:ln>
        </p:spPr>
        <p:txBody>
          <a:bodyPr/>
          <a:lstStyle/>
          <a:p>
            <a:endParaRPr lang="en-US" sz="2400"/>
          </a:p>
        </p:txBody>
      </p:sp>
      <p:sp>
        <p:nvSpPr>
          <p:cNvPr id="3" name="Shape 1"/>
          <p:cNvSpPr/>
          <p:nvPr/>
        </p:nvSpPr>
        <p:spPr>
          <a:xfrm>
            <a:off x="0" y="914400"/>
            <a:ext cx="12192000" cy="48768"/>
          </a:xfrm>
          <a:prstGeom prst="rect">
            <a:avLst/>
          </a:prstGeom>
          <a:solidFill>
            <a:srgbClr val="E8B400"/>
          </a:solidFill>
          <a:ln w="12700">
            <a:solidFill>
              <a:srgbClr val="E8B400"/>
            </a:solidFill>
            <a:prstDash val="solid"/>
          </a:ln>
        </p:spPr>
        <p:txBody>
          <a:bodyPr/>
          <a:lstStyle/>
          <a:p>
            <a:endParaRPr lang="en-US" sz="2400"/>
          </a:p>
        </p:txBody>
      </p:sp>
      <p:sp>
        <p:nvSpPr>
          <p:cNvPr id="4" name="Shape 2"/>
          <p:cNvSpPr/>
          <p:nvPr/>
        </p:nvSpPr>
        <p:spPr>
          <a:xfrm>
            <a:off x="0" y="963168"/>
            <a:ext cx="12192000" cy="24384"/>
          </a:xfrm>
          <a:prstGeom prst="rect">
            <a:avLst/>
          </a:prstGeom>
          <a:solidFill>
            <a:srgbClr val="C0392B"/>
          </a:solidFill>
          <a:ln w="12700">
            <a:solidFill>
              <a:srgbClr val="C0392B"/>
            </a:solidFill>
            <a:prstDash val="solid"/>
          </a:ln>
        </p:spPr>
        <p:txBody>
          <a:bodyPr/>
          <a:lstStyle/>
          <a:p>
            <a:endParaRPr lang="en-US" sz="2400"/>
          </a:p>
        </p:txBody>
      </p:sp>
      <p:sp>
        <p:nvSpPr>
          <p:cNvPr id="5" name="Text 3"/>
          <p:cNvSpPr/>
          <p:nvPr/>
        </p:nvSpPr>
        <p:spPr>
          <a:xfrm>
            <a:off x="512064" y="0"/>
            <a:ext cx="10728960" cy="914400"/>
          </a:xfrm>
          <a:prstGeom prst="rect">
            <a:avLst/>
          </a:prstGeom>
          <a:noFill/>
          <a:ln/>
        </p:spPr>
        <p:txBody>
          <a:bodyPr wrap="square" rtlCol="0" anchor="ctr"/>
          <a:lstStyle/>
          <a:p>
            <a:r>
              <a:rPr lang="en-US" sz="2667" b="1" dirty="0">
                <a:solidFill>
                  <a:srgbClr val="FFFFFF"/>
                </a:solidFill>
                <a:latin typeface="Calibri" pitchFamily="34" charset="0"/>
                <a:ea typeface="Calibri" pitchFamily="34" charset="-122"/>
                <a:cs typeface="Calibri" pitchFamily="34" charset="-120"/>
              </a:rPr>
              <a:t>Key Findings: Publication Growth &amp; Global Research Landscape</a:t>
            </a:r>
            <a:endParaRPr lang="en-US" sz="2667" dirty="0"/>
          </a:p>
        </p:txBody>
      </p:sp>
      <p:graphicFrame>
        <p:nvGraphicFramePr>
          <p:cNvPr id="6" name="Chart 0"/>
          <p:cNvGraphicFramePr/>
          <p:nvPr>
            <p:extLst>
              <p:ext uri="{D42A27DB-BD31-4B8C-83A1-F6EECF244321}">
                <p14:modId xmlns:p14="http://schemas.microsoft.com/office/powerpoint/2010/main" val="158185489"/>
              </p:ext>
            </p:extLst>
          </p:nvPr>
        </p:nvGraphicFramePr>
        <p:xfrm>
          <a:off x="280416" y="1193943"/>
          <a:ext cx="68275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7376160" y="1121664"/>
            <a:ext cx="4535424" cy="426720"/>
          </a:xfrm>
          <a:prstGeom prst="rect">
            <a:avLst/>
          </a:prstGeom>
          <a:noFill/>
          <a:ln/>
        </p:spPr>
        <p:txBody>
          <a:bodyPr wrap="square" rtlCol="0" anchor="ctr"/>
          <a:lstStyle/>
          <a:p>
            <a:r>
              <a:rPr lang="en-US" sz="2133" b="1" dirty="0"/>
              <a:t>Top Countries by Output</a:t>
            </a:r>
            <a:endParaRPr lang="en-US" sz="2133" dirty="0"/>
          </a:p>
        </p:txBody>
      </p:sp>
      <p:graphicFrame>
        <p:nvGraphicFramePr>
          <p:cNvPr id="8" name="Table 0"/>
          <p:cNvGraphicFramePr>
            <a:graphicFrameLocks noGrp="1"/>
          </p:cNvGraphicFramePr>
          <p:nvPr/>
        </p:nvGraphicFramePr>
        <p:xfrm>
          <a:off x="7376160" y="1633728"/>
          <a:ext cx="4535424" cy="3326670"/>
        </p:xfrm>
        <a:graphic>
          <a:graphicData uri="http://schemas.openxmlformats.org/drawingml/2006/table">
            <a:tbl>
              <a:tblPr/>
              <a:tblGrid>
                <a:gridCol w="18288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487424">
                  <a:extLst>
                    <a:ext uri="{9D8B030D-6E8A-4147-A177-3AD203B41FA5}">
                      <a16:colId xmlns:a16="http://schemas.microsoft.com/office/drawing/2014/main" val="20002"/>
                    </a:ext>
                  </a:extLst>
                </a:gridCol>
              </a:tblGrid>
              <a:tr h="609600">
                <a:tc>
                  <a:txBody>
                    <a:bodyPr/>
                    <a:lstStyle/>
                    <a:p>
                      <a:pPr marL="0" indent="0">
                        <a:buNone/>
                      </a:pPr>
                      <a:r>
                        <a:rPr lang="en-US" sz="1600" b="1" dirty="0">
                          <a:solidFill>
                            <a:srgbClr val="FFFFFF"/>
                          </a:solidFill>
                        </a:rPr>
                        <a:t>Country</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1B3A6B"/>
                    </a:solidFill>
                  </a:tcPr>
                </a:tc>
                <a:tc>
                  <a:txBody>
                    <a:bodyPr/>
                    <a:lstStyle/>
                    <a:p>
                      <a:pPr marL="0" indent="0" algn="ctr">
                        <a:buNone/>
                      </a:pPr>
                      <a:r>
                        <a:rPr lang="en-US" sz="1600" b="1" dirty="0">
                          <a:solidFill>
                            <a:srgbClr val="FFFFFF"/>
                          </a:solidFill>
                        </a:rPr>
                        <a:t>Docs</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1B3A6B"/>
                    </a:solidFill>
                  </a:tcPr>
                </a:tc>
                <a:tc>
                  <a:txBody>
                    <a:bodyPr/>
                    <a:lstStyle/>
                    <a:p>
                      <a:pPr marL="0" indent="0" algn="ctr">
                        <a:buNone/>
                      </a:pPr>
                      <a:r>
                        <a:rPr lang="en-US" sz="1600" b="1" dirty="0">
                          <a:solidFill>
                            <a:srgbClr val="FFFFFF"/>
                          </a:solidFill>
                        </a:rPr>
                        <a:t>Avg. Cites/Art</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452845">
                <a:tc>
                  <a:txBody>
                    <a:bodyPr/>
                    <a:lstStyle/>
                    <a:p>
                      <a:pPr marL="0" indent="0">
                        <a:buNone/>
                      </a:pPr>
                      <a:r>
                        <a:rPr lang="en-US" sz="1600" dirty="0">
                          <a:solidFill>
                            <a:srgbClr val="000000"/>
                          </a:solidFill>
                        </a:rPr>
                        <a:t>India</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EBF0F8"/>
                    </a:solidFill>
                  </a:tcPr>
                </a:tc>
                <a:tc>
                  <a:txBody>
                    <a:bodyPr/>
                    <a:lstStyle/>
                    <a:p>
                      <a:pPr marL="0" indent="0" algn="ctr">
                        <a:buNone/>
                      </a:pPr>
                      <a:r>
                        <a:rPr lang="en-US" sz="1600" dirty="0">
                          <a:solidFill>
                            <a:srgbClr val="000000"/>
                          </a:solidFill>
                        </a:rPr>
                        <a:t>3,850</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EBF0F8"/>
                    </a:solidFill>
                  </a:tcPr>
                </a:tc>
                <a:tc>
                  <a:txBody>
                    <a:bodyPr/>
                    <a:lstStyle/>
                    <a:p>
                      <a:pPr marL="0" indent="0" algn="ctr">
                        <a:buNone/>
                      </a:pPr>
                      <a:r>
                        <a:rPr lang="en-US" sz="1600" dirty="0">
                          <a:solidFill>
                            <a:srgbClr val="2B5FA8"/>
                          </a:solidFill>
                        </a:rPr>
                        <a:t>15.9</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EBF0F8"/>
                    </a:solidFill>
                  </a:tcPr>
                </a:tc>
                <a:extLst>
                  <a:ext uri="{0D108BD9-81ED-4DB2-BD59-A6C34878D82A}">
                    <a16:rowId xmlns:a16="http://schemas.microsoft.com/office/drawing/2014/main" val="10001"/>
                  </a:ext>
                </a:extLst>
              </a:tr>
              <a:tr h="452845">
                <a:tc>
                  <a:txBody>
                    <a:bodyPr/>
                    <a:lstStyle/>
                    <a:p>
                      <a:pPr marL="0" indent="0">
                        <a:buNone/>
                      </a:pPr>
                      <a:r>
                        <a:rPr lang="en-US" sz="1600" dirty="0">
                          <a:solidFill>
                            <a:srgbClr val="000000"/>
                          </a:solidFill>
                        </a:rPr>
                        <a:t>USA</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F4F6FB"/>
                    </a:solidFill>
                  </a:tcPr>
                </a:tc>
                <a:tc>
                  <a:txBody>
                    <a:bodyPr/>
                    <a:lstStyle/>
                    <a:p>
                      <a:pPr marL="0" indent="0" algn="ctr">
                        <a:buNone/>
                      </a:pPr>
                      <a:r>
                        <a:rPr lang="en-US" sz="1600" dirty="0">
                          <a:solidFill>
                            <a:srgbClr val="000000"/>
                          </a:solidFill>
                        </a:rPr>
                        <a:t>2,955</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F4F6FB"/>
                    </a:solidFill>
                  </a:tcPr>
                </a:tc>
                <a:tc>
                  <a:txBody>
                    <a:bodyPr/>
                    <a:lstStyle/>
                    <a:p>
                      <a:pPr marL="0" indent="0" algn="ctr">
                        <a:buNone/>
                      </a:pPr>
                      <a:r>
                        <a:rPr lang="en-US" sz="1600" dirty="0">
                          <a:solidFill>
                            <a:srgbClr val="2B5FA8"/>
                          </a:solidFill>
                        </a:rPr>
                        <a:t>46.1</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52845">
                <a:tc>
                  <a:txBody>
                    <a:bodyPr/>
                    <a:lstStyle/>
                    <a:p>
                      <a:pPr marL="0" indent="0">
                        <a:buNone/>
                      </a:pPr>
                      <a:r>
                        <a:rPr lang="en-US" sz="1600" dirty="0">
                          <a:solidFill>
                            <a:srgbClr val="000000"/>
                          </a:solidFill>
                        </a:rPr>
                        <a:t>China</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EBF0F8"/>
                    </a:solidFill>
                  </a:tcPr>
                </a:tc>
                <a:tc>
                  <a:txBody>
                    <a:bodyPr/>
                    <a:lstStyle/>
                    <a:p>
                      <a:pPr marL="0" indent="0" algn="ctr">
                        <a:buNone/>
                      </a:pPr>
                      <a:r>
                        <a:rPr lang="en-US" sz="1600" dirty="0">
                          <a:solidFill>
                            <a:srgbClr val="000000"/>
                          </a:solidFill>
                        </a:rPr>
                        <a:t>2,752</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EBF0F8"/>
                    </a:solidFill>
                  </a:tcPr>
                </a:tc>
                <a:tc>
                  <a:txBody>
                    <a:bodyPr/>
                    <a:lstStyle/>
                    <a:p>
                      <a:pPr marL="0" indent="0" algn="ctr">
                        <a:buNone/>
                      </a:pPr>
                      <a:r>
                        <a:rPr lang="en-US" sz="1600" dirty="0">
                          <a:solidFill>
                            <a:srgbClr val="2B5FA8"/>
                          </a:solidFill>
                        </a:rPr>
                        <a:t>31.5</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EBF0F8"/>
                    </a:solidFill>
                  </a:tcPr>
                </a:tc>
                <a:extLst>
                  <a:ext uri="{0D108BD9-81ED-4DB2-BD59-A6C34878D82A}">
                    <a16:rowId xmlns:a16="http://schemas.microsoft.com/office/drawing/2014/main" val="10003"/>
                  </a:ext>
                </a:extLst>
              </a:tr>
              <a:tr h="452845">
                <a:tc>
                  <a:txBody>
                    <a:bodyPr/>
                    <a:lstStyle/>
                    <a:p>
                      <a:pPr marL="0" indent="0">
                        <a:buNone/>
                      </a:pPr>
                      <a:r>
                        <a:rPr lang="en-US" sz="1600" dirty="0">
                          <a:solidFill>
                            <a:srgbClr val="000000"/>
                          </a:solidFill>
                        </a:rPr>
                        <a:t>UK</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F4F6FB"/>
                    </a:solidFill>
                  </a:tcPr>
                </a:tc>
                <a:tc>
                  <a:txBody>
                    <a:bodyPr/>
                    <a:lstStyle/>
                    <a:p>
                      <a:pPr marL="0" indent="0" algn="ctr">
                        <a:buNone/>
                      </a:pPr>
                      <a:r>
                        <a:rPr lang="en-US" sz="1600" dirty="0">
                          <a:solidFill>
                            <a:srgbClr val="000000"/>
                          </a:solidFill>
                        </a:rPr>
                        <a:t>1,488</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F4F6FB"/>
                    </a:solidFill>
                  </a:tcPr>
                </a:tc>
                <a:tc>
                  <a:txBody>
                    <a:bodyPr/>
                    <a:lstStyle/>
                    <a:p>
                      <a:pPr marL="0" indent="0" algn="ctr">
                        <a:buNone/>
                      </a:pPr>
                      <a:r>
                        <a:rPr lang="en-US" sz="1600" dirty="0">
                          <a:solidFill>
                            <a:srgbClr val="2B5FA8"/>
                          </a:solidFill>
                        </a:rPr>
                        <a:t>53.1</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452845">
                <a:tc>
                  <a:txBody>
                    <a:bodyPr/>
                    <a:lstStyle/>
                    <a:p>
                      <a:pPr marL="0" indent="0">
                        <a:buNone/>
                      </a:pPr>
                      <a:r>
                        <a:rPr lang="en-US" sz="1600" dirty="0">
                          <a:solidFill>
                            <a:srgbClr val="000000"/>
                          </a:solidFill>
                        </a:rPr>
                        <a:t>Germany</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EBF0F8"/>
                    </a:solidFill>
                  </a:tcPr>
                </a:tc>
                <a:tc>
                  <a:txBody>
                    <a:bodyPr/>
                    <a:lstStyle/>
                    <a:p>
                      <a:pPr marL="0" indent="0" algn="ctr">
                        <a:buNone/>
                      </a:pPr>
                      <a:r>
                        <a:rPr lang="en-US" sz="1600" dirty="0">
                          <a:solidFill>
                            <a:srgbClr val="000000"/>
                          </a:solidFill>
                        </a:rPr>
                        <a:t>997</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EBF0F8"/>
                    </a:solidFill>
                  </a:tcPr>
                </a:tc>
                <a:tc>
                  <a:txBody>
                    <a:bodyPr/>
                    <a:lstStyle/>
                    <a:p>
                      <a:pPr marL="0" indent="0" algn="ctr">
                        <a:buNone/>
                      </a:pPr>
                      <a:r>
                        <a:rPr lang="en-US" sz="1600" dirty="0">
                          <a:solidFill>
                            <a:srgbClr val="2B5FA8"/>
                          </a:solidFill>
                        </a:rPr>
                        <a:t>42.1</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EBF0F8"/>
                    </a:solidFill>
                  </a:tcPr>
                </a:tc>
                <a:extLst>
                  <a:ext uri="{0D108BD9-81ED-4DB2-BD59-A6C34878D82A}">
                    <a16:rowId xmlns:a16="http://schemas.microsoft.com/office/drawing/2014/main" val="10005"/>
                  </a:ext>
                </a:extLst>
              </a:tr>
              <a:tr h="452845">
                <a:tc>
                  <a:txBody>
                    <a:bodyPr/>
                    <a:lstStyle/>
                    <a:p>
                      <a:pPr marL="0" indent="0">
                        <a:buNone/>
                      </a:pPr>
                      <a:r>
                        <a:rPr lang="en-US" sz="1600" dirty="0">
                          <a:solidFill>
                            <a:srgbClr val="000000"/>
                          </a:solidFill>
                        </a:rPr>
                        <a:t>Australia</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F4F6FB"/>
                    </a:solidFill>
                  </a:tcPr>
                </a:tc>
                <a:tc>
                  <a:txBody>
                    <a:bodyPr/>
                    <a:lstStyle/>
                    <a:p>
                      <a:pPr marL="0" indent="0" algn="ctr">
                        <a:buNone/>
                      </a:pPr>
                      <a:r>
                        <a:rPr lang="en-US" sz="1600" dirty="0">
                          <a:solidFill>
                            <a:srgbClr val="000000"/>
                          </a:solidFill>
                        </a:rPr>
                        <a:t>968</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F4F6FB"/>
                    </a:solidFill>
                  </a:tcPr>
                </a:tc>
                <a:tc>
                  <a:txBody>
                    <a:bodyPr/>
                    <a:lstStyle/>
                    <a:p>
                      <a:pPr marL="0" indent="0" algn="ctr">
                        <a:buNone/>
                      </a:pPr>
                      <a:r>
                        <a:rPr lang="en-US" sz="1600" dirty="0">
                          <a:solidFill>
                            <a:srgbClr val="2B5FA8"/>
                          </a:solidFill>
                        </a:rPr>
                        <a:t>51.7</a:t>
                      </a:r>
                      <a:endParaRPr lang="en-US" sz="1600" dirty="0"/>
                    </a:p>
                  </a:txBody>
                  <a:tcPr marL="121920" marR="121920" marT="60960" marB="60960">
                    <a:lnL w="6350" cap="flat" cmpd="sng" algn="ctr">
                      <a:solidFill>
                        <a:srgbClr val="C5CFE0"/>
                      </a:solidFill>
                      <a:prstDash val="solid"/>
                      <a:round/>
                      <a:headEnd type="none" w="med" len="med"/>
                      <a:tailEnd type="none" w="med" len="med"/>
                    </a:lnL>
                    <a:lnR w="6350" cap="flat" cmpd="sng" algn="ctr">
                      <a:solidFill>
                        <a:srgbClr val="C5CFE0"/>
                      </a:solidFill>
                      <a:prstDash val="solid"/>
                      <a:round/>
                      <a:headEnd type="none" w="med" len="med"/>
                      <a:tailEnd type="none" w="med" len="med"/>
                    </a:lnR>
                    <a:lnT w="6350" cap="flat" cmpd="sng" algn="ctr">
                      <a:solidFill>
                        <a:srgbClr val="C5CFE0"/>
                      </a:solidFill>
                      <a:prstDash val="solid"/>
                      <a:round/>
                      <a:headEnd type="none" w="med" len="med"/>
                      <a:tailEnd type="none" w="med" len="med"/>
                    </a:lnT>
                    <a:lnB w="6350" cap="flat" cmpd="sng" algn="ctr">
                      <a:solidFill>
                        <a:srgbClr val="C5CFE0"/>
                      </a:solidFill>
                      <a:prstDash val="solid"/>
                      <a:round/>
                      <a:headEnd type="none" w="med" len="med"/>
                      <a:tailEnd type="none" w="med" len="med"/>
                    </a:lnB>
                    <a:solidFill>
                      <a:srgbClr val="F4F6FB"/>
                    </a:solidFill>
                  </a:tcPr>
                </a:tc>
                <a:extLst>
                  <a:ext uri="{0D108BD9-81ED-4DB2-BD59-A6C34878D82A}">
                    <a16:rowId xmlns:a16="http://schemas.microsoft.com/office/drawing/2014/main" val="10006"/>
                  </a:ext>
                </a:extLst>
              </a:tr>
            </a:tbl>
          </a:graphicData>
        </a:graphic>
      </p:graphicFrame>
      <p:sp>
        <p:nvSpPr>
          <p:cNvPr id="9" name="Shape 5"/>
          <p:cNvSpPr/>
          <p:nvPr/>
        </p:nvSpPr>
        <p:spPr>
          <a:xfrm>
            <a:off x="7376160" y="4937760"/>
            <a:ext cx="4535424" cy="1219200"/>
          </a:xfrm>
          <a:prstGeom prst="rect">
            <a:avLst/>
          </a:prstGeom>
          <a:solidFill>
            <a:srgbClr val="EBF0F8"/>
          </a:solidFill>
          <a:ln w="12700">
            <a:solidFill>
              <a:srgbClr val="2B5FA8"/>
            </a:solidFill>
            <a:prstDash val="solid"/>
          </a:ln>
        </p:spPr>
        <p:txBody>
          <a:bodyPr/>
          <a:lstStyle/>
          <a:p>
            <a:endParaRPr lang="en-US" sz="3733"/>
          </a:p>
        </p:txBody>
      </p:sp>
      <p:sp>
        <p:nvSpPr>
          <p:cNvPr id="10" name="Text 6"/>
          <p:cNvSpPr/>
          <p:nvPr/>
        </p:nvSpPr>
        <p:spPr>
          <a:xfrm>
            <a:off x="7376160" y="4937760"/>
            <a:ext cx="4535424" cy="426720"/>
          </a:xfrm>
          <a:prstGeom prst="rect">
            <a:avLst/>
          </a:prstGeom>
          <a:noFill/>
          <a:ln/>
        </p:spPr>
        <p:txBody>
          <a:bodyPr wrap="square" rtlCol="0" anchor="ctr"/>
          <a:lstStyle/>
          <a:p>
            <a:pPr algn="ctr"/>
            <a:r>
              <a:rPr lang="en-US" sz="1600" b="1" dirty="0">
                <a:solidFill>
                  <a:srgbClr val="1B3A6B"/>
                </a:solidFill>
              </a:rPr>
              <a:t>⚡ Volume–Impact Gap</a:t>
            </a:r>
            <a:endParaRPr lang="en-US" sz="1600" dirty="0"/>
          </a:p>
        </p:txBody>
      </p:sp>
      <p:sp>
        <p:nvSpPr>
          <p:cNvPr id="11" name="Text 7"/>
          <p:cNvSpPr/>
          <p:nvPr/>
        </p:nvSpPr>
        <p:spPr>
          <a:xfrm>
            <a:off x="7376160" y="5364480"/>
            <a:ext cx="4535424" cy="792480"/>
          </a:xfrm>
          <a:prstGeom prst="rect">
            <a:avLst/>
          </a:prstGeom>
          <a:noFill/>
          <a:ln/>
        </p:spPr>
        <p:txBody>
          <a:bodyPr wrap="square" rtlCol="0" anchor="ctr"/>
          <a:lstStyle/>
          <a:p>
            <a:pPr algn="ctr"/>
            <a:r>
              <a:rPr lang="en-US" sz="1467" dirty="0">
                <a:solidFill>
                  <a:srgbClr val="1A2E4A"/>
                </a:solidFill>
              </a:rPr>
              <a:t>India leads in volume but US (46.1) &amp;</a:t>
            </a:r>
            <a:endParaRPr lang="en-US" sz="1467" dirty="0"/>
          </a:p>
          <a:p>
            <a:pPr algn="ctr"/>
            <a:r>
              <a:rPr lang="en-US" sz="1467" dirty="0">
                <a:solidFill>
                  <a:srgbClr val="1A2E4A"/>
                </a:solidFill>
              </a:rPr>
              <a:t>UK (53.1) dominate avg. citations/article</a:t>
            </a:r>
            <a:endParaRPr lang="en-US" sz="1467" dirty="0"/>
          </a:p>
        </p:txBody>
      </p:sp>
      <p:sp>
        <p:nvSpPr>
          <p:cNvPr id="12" name="Text 8"/>
          <p:cNvSpPr/>
          <p:nvPr/>
        </p:nvSpPr>
        <p:spPr>
          <a:xfrm>
            <a:off x="147781" y="5425440"/>
            <a:ext cx="7021115" cy="463296"/>
          </a:xfrm>
          <a:prstGeom prst="rect">
            <a:avLst/>
          </a:prstGeom>
          <a:noFill/>
          <a:ln/>
        </p:spPr>
        <p:txBody>
          <a:bodyPr wrap="square" rtlCol="0" anchor="ctr"/>
          <a:lstStyle/>
          <a:p>
            <a:r>
              <a:rPr lang="en-US" sz="1600" i="1" dirty="0">
                <a:solidFill>
                  <a:srgbClr val="7A8BA8"/>
                </a:solidFill>
              </a:rPr>
              <a:t>9× growth from 516 (2015) → 4,683 (2025) — driven by SDGs &amp; Paris Agreement</a:t>
            </a:r>
            <a:endParaRPr lang="en-US" sz="1600" dirty="0"/>
          </a:p>
        </p:txBody>
      </p:sp>
      <p:sp>
        <p:nvSpPr>
          <p:cNvPr id="13" name="Shape 9"/>
          <p:cNvSpPr/>
          <p:nvPr/>
        </p:nvSpPr>
        <p:spPr>
          <a:xfrm>
            <a:off x="0" y="6620256"/>
            <a:ext cx="12192000" cy="24384"/>
          </a:xfrm>
          <a:prstGeom prst="rect">
            <a:avLst/>
          </a:prstGeom>
          <a:solidFill>
            <a:srgbClr val="E8B400"/>
          </a:solidFill>
          <a:ln w="12700">
            <a:solidFill>
              <a:srgbClr val="E8B400"/>
            </a:solidFill>
            <a:prstDash val="solid"/>
          </a:ln>
        </p:spPr>
        <p:txBody>
          <a:bodyPr/>
          <a:lstStyle/>
          <a:p>
            <a:endParaRPr lang="en-US" sz="2400"/>
          </a:p>
        </p:txBody>
      </p:sp>
      <p:sp>
        <p:nvSpPr>
          <p:cNvPr id="14" name="Shape 10"/>
          <p:cNvSpPr/>
          <p:nvPr/>
        </p:nvSpPr>
        <p:spPr>
          <a:xfrm>
            <a:off x="0" y="6644640"/>
            <a:ext cx="12192000" cy="213360"/>
          </a:xfrm>
          <a:prstGeom prst="rect">
            <a:avLst/>
          </a:prstGeom>
          <a:solidFill>
            <a:srgbClr val="122952"/>
          </a:solidFill>
          <a:ln w="12700">
            <a:solidFill>
              <a:srgbClr val="122952"/>
            </a:solidFill>
            <a:prstDash val="solid"/>
          </a:ln>
        </p:spPr>
        <p:txBody>
          <a:bodyPr/>
          <a:lstStyle/>
          <a:p>
            <a:endParaRPr lang="en-US" sz="2400"/>
          </a:p>
        </p:txBody>
      </p:sp>
      <p:sp>
        <p:nvSpPr>
          <p:cNvPr id="15" name="Text 11"/>
          <p:cNvSpPr/>
          <p:nvPr/>
        </p:nvSpPr>
        <p:spPr>
          <a:xfrm>
            <a:off x="0" y="6644640"/>
            <a:ext cx="12192000" cy="213360"/>
          </a:xfrm>
          <a:prstGeom prst="rect">
            <a:avLst/>
          </a:prstGeom>
          <a:noFill/>
          <a:ln/>
        </p:spPr>
        <p:txBody>
          <a:bodyPr wrap="square" rtlCol="0" anchor="ctr"/>
          <a:lstStyle/>
          <a:p>
            <a:pPr algn="ctr"/>
            <a:r>
              <a:rPr lang="en-US" sz="1067" dirty="0">
                <a:solidFill>
                  <a:srgbClr val="C5CFE0"/>
                </a:solidFill>
              </a:rPr>
              <a:t>University of Cape Coast  •  Veritas Nobis Lumen  |  Truth, Our Guide</a:t>
            </a:r>
            <a:endParaRPr lang="en-US" sz="106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22952"/>
          </a:solidFill>
          <a:ln w="12700">
            <a:solidFill>
              <a:srgbClr val="122952"/>
            </a:solidFill>
            <a:prstDash val="solid"/>
          </a:ln>
        </p:spPr>
        <p:txBody>
          <a:bodyPr/>
          <a:lstStyle/>
          <a:p>
            <a:endParaRPr lang="en-US" sz="2400"/>
          </a:p>
        </p:txBody>
      </p:sp>
      <p:sp>
        <p:nvSpPr>
          <p:cNvPr id="3" name="Shape 1"/>
          <p:cNvSpPr/>
          <p:nvPr/>
        </p:nvSpPr>
        <p:spPr>
          <a:xfrm>
            <a:off x="0" y="914400"/>
            <a:ext cx="12192000" cy="48768"/>
          </a:xfrm>
          <a:prstGeom prst="rect">
            <a:avLst/>
          </a:prstGeom>
          <a:solidFill>
            <a:srgbClr val="E8B400"/>
          </a:solidFill>
          <a:ln w="12700">
            <a:solidFill>
              <a:srgbClr val="E8B400"/>
            </a:solidFill>
            <a:prstDash val="solid"/>
          </a:ln>
        </p:spPr>
        <p:txBody>
          <a:bodyPr/>
          <a:lstStyle/>
          <a:p>
            <a:endParaRPr lang="en-US" sz="2400"/>
          </a:p>
        </p:txBody>
      </p:sp>
      <p:sp>
        <p:nvSpPr>
          <p:cNvPr id="4" name="Shape 2"/>
          <p:cNvSpPr/>
          <p:nvPr/>
        </p:nvSpPr>
        <p:spPr>
          <a:xfrm>
            <a:off x="0" y="963168"/>
            <a:ext cx="12192000" cy="24384"/>
          </a:xfrm>
          <a:prstGeom prst="rect">
            <a:avLst/>
          </a:prstGeom>
          <a:solidFill>
            <a:srgbClr val="C0392B"/>
          </a:solidFill>
          <a:ln w="12700">
            <a:solidFill>
              <a:srgbClr val="C0392B"/>
            </a:solidFill>
            <a:prstDash val="solid"/>
          </a:ln>
        </p:spPr>
        <p:txBody>
          <a:bodyPr/>
          <a:lstStyle/>
          <a:p>
            <a:endParaRPr lang="en-US" sz="2400"/>
          </a:p>
        </p:txBody>
      </p:sp>
      <p:sp>
        <p:nvSpPr>
          <p:cNvPr id="5" name="Text 3"/>
          <p:cNvSpPr/>
          <p:nvPr/>
        </p:nvSpPr>
        <p:spPr>
          <a:xfrm>
            <a:off x="512064" y="0"/>
            <a:ext cx="10728960" cy="914400"/>
          </a:xfrm>
          <a:prstGeom prst="rect">
            <a:avLst/>
          </a:prstGeom>
          <a:noFill/>
          <a:ln/>
        </p:spPr>
        <p:txBody>
          <a:bodyPr wrap="square" rtlCol="0" anchor="ctr"/>
          <a:lstStyle/>
          <a:p>
            <a:r>
              <a:rPr lang="en-US" sz="2667" b="1" dirty="0">
                <a:solidFill>
                  <a:srgbClr val="FFFFFF"/>
                </a:solidFill>
                <a:latin typeface="Calibri" pitchFamily="34" charset="0"/>
                <a:ea typeface="Calibri" pitchFamily="34" charset="-122"/>
                <a:cs typeface="Calibri" pitchFamily="34" charset="-120"/>
              </a:rPr>
              <a:t>Influential Journals, Publishers &amp; Scholarly Contributions</a:t>
            </a:r>
            <a:endParaRPr lang="en-US" sz="2667" dirty="0"/>
          </a:p>
        </p:txBody>
      </p:sp>
      <p:graphicFrame>
        <p:nvGraphicFramePr>
          <p:cNvPr id="6" name="Chart 0"/>
          <p:cNvGraphicFramePr/>
          <p:nvPr>
            <p:extLst>
              <p:ext uri="{D42A27DB-BD31-4B8C-83A1-F6EECF244321}">
                <p14:modId xmlns:p14="http://schemas.microsoft.com/office/powerpoint/2010/main" val="511861514"/>
              </p:ext>
            </p:extLst>
          </p:nvPr>
        </p:nvGraphicFramePr>
        <p:xfrm>
          <a:off x="304800" y="1121664"/>
          <a:ext cx="670560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7315200" y="1121664"/>
            <a:ext cx="4596384" cy="390144"/>
          </a:xfrm>
          <a:prstGeom prst="rect">
            <a:avLst/>
          </a:prstGeom>
          <a:noFill/>
          <a:ln/>
        </p:spPr>
        <p:txBody>
          <a:bodyPr wrap="square" rtlCol="0" anchor="ctr"/>
          <a:lstStyle/>
          <a:p>
            <a:r>
              <a:rPr lang="en-US" sz="1467" b="1" dirty="0">
                <a:solidFill>
                  <a:srgbClr val="E8B400"/>
                </a:solidFill>
              </a:rPr>
              <a:t>Publisher Dominance</a:t>
            </a:r>
            <a:endParaRPr lang="en-US" sz="1467" dirty="0"/>
          </a:p>
        </p:txBody>
      </p:sp>
      <p:sp>
        <p:nvSpPr>
          <p:cNvPr id="8" name="Shape 5"/>
          <p:cNvSpPr/>
          <p:nvPr/>
        </p:nvSpPr>
        <p:spPr>
          <a:xfrm>
            <a:off x="7315200" y="1609344"/>
            <a:ext cx="4596384" cy="950976"/>
          </a:xfrm>
          <a:prstGeom prst="rect">
            <a:avLst/>
          </a:prstGeom>
          <a:solidFill>
            <a:srgbClr val="1B3A6B"/>
          </a:solidFill>
          <a:ln w="12700">
            <a:solidFill>
              <a:srgbClr val="1B3A6B"/>
            </a:solidFill>
            <a:prstDash val="solid"/>
          </a:ln>
        </p:spPr>
        <p:txBody>
          <a:bodyPr/>
          <a:lstStyle/>
          <a:p>
            <a:endParaRPr lang="en-US" sz="2400"/>
          </a:p>
        </p:txBody>
      </p:sp>
      <p:sp>
        <p:nvSpPr>
          <p:cNvPr id="9" name="Text 6"/>
          <p:cNvSpPr/>
          <p:nvPr/>
        </p:nvSpPr>
        <p:spPr>
          <a:xfrm>
            <a:off x="7315200" y="1609344"/>
            <a:ext cx="4596384" cy="463296"/>
          </a:xfrm>
          <a:prstGeom prst="rect">
            <a:avLst/>
          </a:prstGeom>
          <a:noFill/>
          <a:ln/>
        </p:spPr>
        <p:txBody>
          <a:bodyPr wrap="square" rtlCol="0" anchor="ctr"/>
          <a:lstStyle/>
          <a:p>
            <a:pPr algn="ctr"/>
            <a:r>
              <a:rPr lang="en-US" sz="2400" b="1" dirty="0">
                <a:solidFill>
                  <a:srgbClr val="FFFFFF"/>
                </a:solidFill>
              </a:rPr>
              <a:t>Elsevier</a:t>
            </a:r>
            <a:endParaRPr lang="en-US" sz="2400" dirty="0"/>
          </a:p>
        </p:txBody>
      </p:sp>
      <p:sp>
        <p:nvSpPr>
          <p:cNvPr id="10" name="Text 7"/>
          <p:cNvSpPr/>
          <p:nvPr/>
        </p:nvSpPr>
        <p:spPr>
          <a:xfrm>
            <a:off x="7315200" y="2048256"/>
            <a:ext cx="4596384" cy="487680"/>
          </a:xfrm>
          <a:prstGeom prst="rect">
            <a:avLst/>
          </a:prstGeom>
          <a:noFill/>
          <a:ln/>
        </p:spPr>
        <p:txBody>
          <a:bodyPr wrap="square" rtlCol="0" anchor="ctr"/>
          <a:lstStyle/>
          <a:p>
            <a:pPr algn="ctr"/>
            <a:r>
              <a:rPr lang="en-US" sz="1467" dirty="0">
                <a:solidFill>
                  <a:srgbClr val="D8EAF5"/>
                </a:solidFill>
              </a:rPr>
              <a:t>3,746 docs  •  131,867 citations</a:t>
            </a:r>
            <a:endParaRPr lang="en-US" sz="1467" dirty="0"/>
          </a:p>
        </p:txBody>
      </p:sp>
      <p:sp>
        <p:nvSpPr>
          <p:cNvPr id="11" name="Shape 8"/>
          <p:cNvSpPr/>
          <p:nvPr/>
        </p:nvSpPr>
        <p:spPr>
          <a:xfrm>
            <a:off x="7315200" y="2706624"/>
            <a:ext cx="4596384" cy="950976"/>
          </a:xfrm>
          <a:prstGeom prst="rect">
            <a:avLst/>
          </a:prstGeom>
          <a:solidFill>
            <a:srgbClr val="1A7AB5"/>
          </a:solidFill>
          <a:ln w="12700">
            <a:solidFill>
              <a:srgbClr val="1A7AB5"/>
            </a:solidFill>
            <a:prstDash val="solid"/>
          </a:ln>
        </p:spPr>
        <p:txBody>
          <a:bodyPr/>
          <a:lstStyle/>
          <a:p>
            <a:endParaRPr lang="en-US" sz="2400"/>
          </a:p>
        </p:txBody>
      </p:sp>
      <p:sp>
        <p:nvSpPr>
          <p:cNvPr id="12" name="Text 9"/>
          <p:cNvSpPr/>
          <p:nvPr/>
        </p:nvSpPr>
        <p:spPr>
          <a:xfrm>
            <a:off x="7315200" y="2706624"/>
            <a:ext cx="4596384" cy="463296"/>
          </a:xfrm>
          <a:prstGeom prst="rect">
            <a:avLst/>
          </a:prstGeom>
          <a:noFill/>
          <a:ln/>
        </p:spPr>
        <p:txBody>
          <a:bodyPr wrap="square" rtlCol="0" anchor="ctr"/>
          <a:lstStyle/>
          <a:p>
            <a:pPr algn="ctr"/>
            <a:r>
              <a:rPr lang="en-US" sz="2400" b="1" dirty="0">
                <a:solidFill>
                  <a:srgbClr val="FFFFFF"/>
                </a:solidFill>
              </a:rPr>
              <a:t>MDPI</a:t>
            </a:r>
            <a:endParaRPr lang="en-US" sz="2400" dirty="0"/>
          </a:p>
        </p:txBody>
      </p:sp>
      <p:sp>
        <p:nvSpPr>
          <p:cNvPr id="13" name="Text 10"/>
          <p:cNvSpPr/>
          <p:nvPr/>
        </p:nvSpPr>
        <p:spPr>
          <a:xfrm>
            <a:off x="7315200" y="3145536"/>
            <a:ext cx="4596384" cy="487680"/>
          </a:xfrm>
          <a:prstGeom prst="rect">
            <a:avLst/>
          </a:prstGeom>
          <a:noFill/>
          <a:ln/>
        </p:spPr>
        <p:txBody>
          <a:bodyPr wrap="square" rtlCol="0" anchor="ctr"/>
          <a:lstStyle/>
          <a:p>
            <a:pPr algn="ctr"/>
            <a:r>
              <a:rPr lang="en-US" sz="1467" dirty="0">
                <a:solidFill>
                  <a:srgbClr val="D8EAF5"/>
                </a:solidFill>
              </a:rPr>
              <a:t>1,809 docs  •  52,990 citations</a:t>
            </a:r>
            <a:endParaRPr lang="en-US" sz="1467" dirty="0"/>
          </a:p>
        </p:txBody>
      </p:sp>
      <p:sp>
        <p:nvSpPr>
          <p:cNvPr id="14" name="Shape 11"/>
          <p:cNvSpPr/>
          <p:nvPr/>
        </p:nvSpPr>
        <p:spPr>
          <a:xfrm>
            <a:off x="7315200" y="3803904"/>
            <a:ext cx="4596384" cy="950976"/>
          </a:xfrm>
          <a:prstGeom prst="rect">
            <a:avLst/>
          </a:prstGeom>
          <a:solidFill>
            <a:srgbClr val="C0392B"/>
          </a:solidFill>
          <a:ln w="12700">
            <a:solidFill>
              <a:srgbClr val="C0392B"/>
            </a:solidFill>
            <a:prstDash val="solid"/>
          </a:ln>
        </p:spPr>
        <p:txBody>
          <a:bodyPr/>
          <a:lstStyle/>
          <a:p>
            <a:endParaRPr lang="en-US" sz="3733"/>
          </a:p>
        </p:txBody>
      </p:sp>
      <p:sp>
        <p:nvSpPr>
          <p:cNvPr id="15" name="Text 12"/>
          <p:cNvSpPr/>
          <p:nvPr/>
        </p:nvSpPr>
        <p:spPr>
          <a:xfrm>
            <a:off x="7315200" y="3803904"/>
            <a:ext cx="4596384" cy="463296"/>
          </a:xfrm>
          <a:prstGeom prst="rect">
            <a:avLst/>
          </a:prstGeom>
          <a:noFill/>
          <a:ln/>
        </p:spPr>
        <p:txBody>
          <a:bodyPr wrap="square" rtlCol="0" anchor="ctr"/>
          <a:lstStyle/>
          <a:p>
            <a:pPr algn="ctr"/>
            <a:r>
              <a:rPr lang="en-US" sz="2400" b="1" dirty="0">
                <a:solidFill>
                  <a:srgbClr val="FFFFFF"/>
                </a:solidFill>
              </a:rPr>
              <a:t>Springer Nature</a:t>
            </a:r>
            <a:endParaRPr lang="en-US" sz="2400" dirty="0"/>
          </a:p>
        </p:txBody>
      </p:sp>
      <p:sp>
        <p:nvSpPr>
          <p:cNvPr id="16" name="Text 13"/>
          <p:cNvSpPr/>
          <p:nvPr/>
        </p:nvSpPr>
        <p:spPr>
          <a:xfrm>
            <a:off x="7315200" y="4242816"/>
            <a:ext cx="4596384" cy="487680"/>
          </a:xfrm>
          <a:prstGeom prst="rect">
            <a:avLst/>
          </a:prstGeom>
          <a:noFill/>
          <a:ln/>
        </p:spPr>
        <p:txBody>
          <a:bodyPr wrap="square" rtlCol="0" anchor="ctr"/>
          <a:lstStyle/>
          <a:p>
            <a:pPr algn="ctr"/>
            <a:r>
              <a:rPr lang="en-US" sz="1467" dirty="0">
                <a:solidFill>
                  <a:srgbClr val="D8EAF5"/>
                </a:solidFill>
              </a:rPr>
              <a:t>3,000+ docs  •  33,564 citations</a:t>
            </a:r>
            <a:endParaRPr lang="en-US" sz="1467" dirty="0"/>
          </a:p>
        </p:txBody>
      </p:sp>
      <p:sp>
        <p:nvSpPr>
          <p:cNvPr id="17" name="Shape 14"/>
          <p:cNvSpPr/>
          <p:nvPr/>
        </p:nvSpPr>
        <p:spPr>
          <a:xfrm>
            <a:off x="7315200" y="4974336"/>
            <a:ext cx="4596384" cy="1487424"/>
          </a:xfrm>
          <a:prstGeom prst="rect">
            <a:avLst/>
          </a:prstGeom>
          <a:solidFill>
            <a:srgbClr val="0C1F3F"/>
          </a:solidFill>
          <a:ln w="12700">
            <a:solidFill>
              <a:srgbClr val="E8B400"/>
            </a:solidFill>
            <a:prstDash val="solid"/>
          </a:ln>
        </p:spPr>
        <p:txBody>
          <a:bodyPr/>
          <a:lstStyle/>
          <a:p>
            <a:endParaRPr lang="en-US" sz="2400"/>
          </a:p>
        </p:txBody>
      </p:sp>
      <p:sp>
        <p:nvSpPr>
          <p:cNvPr id="18" name="Text 15"/>
          <p:cNvSpPr/>
          <p:nvPr/>
        </p:nvSpPr>
        <p:spPr>
          <a:xfrm>
            <a:off x="7315200" y="4974336"/>
            <a:ext cx="4596384" cy="365760"/>
          </a:xfrm>
          <a:prstGeom prst="rect">
            <a:avLst/>
          </a:prstGeom>
          <a:noFill/>
          <a:ln/>
        </p:spPr>
        <p:txBody>
          <a:bodyPr wrap="square" rtlCol="0" anchor="ctr"/>
          <a:lstStyle/>
          <a:p>
            <a:pPr algn="ctr"/>
            <a:r>
              <a:rPr lang="en-US" sz="1600" b="1" dirty="0">
                <a:solidFill>
                  <a:srgbClr val="E8B400"/>
                </a:solidFill>
              </a:rPr>
              <a:t>Most Cited Works</a:t>
            </a:r>
            <a:endParaRPr lang="en-US" sz="1600" dirty="0"/>
          </a:p>
        </p:txBody>
      </p:sp>
      <p:sp>
        <p:nvSpPr>
          <p:cNvPr id="19" name="Text 16"/>
          <p:cNvSpPr/>
          <p:nvPr/>
        </p:nvSpPr>
        <p:spPr>
          <a:xfrm>
            <a:off x="7498080" y="5388864"/>
            <a:ext cx="4242816" cy="341376"/>
          </a:xfrm>
          <a:prstGeom prst="rect">
            <a:avLst/>
          </a:prstGeom>
          <a:noFill/>
          <a:ln/>
        </p:spPr>
        <p:txBody>
          <a:bodyPr wrap="square" rtlCol="0" anchor="ctr"/>
          <a:lstStyle/>
          <a:p>
            <a:r>
              <a:rPr lang="en-US" sz="1400" dirty="0">
                <a:solidFill>
                  <a:srgbClr val="C5CFE0"/>
                </a:solidFill>
              </a:rPr>
              <a:t>• Savary et al. 2019 — 3,070 citations</a:t>
            </a:r>
            <a:endParaRPr lang="en-US" sz="1400" dirty="0"/>
          </a:p>
        </p:txBody>
      </p:sp>
      <p:sp>
        <p:nvSpPr>
          <p:cNvPr id="20" name="Text 17"/>
          <p:cNvSpPr/>
          <p:nvPr/>
        </p:nvSpPr>
        <p:spPr>
          <a:xfrm>
            <a:off x="7498080" y="5754624"/>
            <a:ext cx="4242816" cy="341376"/>
          </a:xfrm>
          <a:prstGeom prst="rect">
            <a:avLst/>
          </a:prstGeom>
          <a:noFill/>
          <a:ln/>
        </p:spPr>
        <p:txBody>
          <a:bodyPr wrap="square" rtlCol="0" anchor="ctr"/>
          <a:lstStyle/>
          <a:p>
            <a:r>
              <a:rPr lang="en-US" sz="1400" dirty="0">
                <a:solidFill>
                  <a:srgbClr val="C5CFE0"/>
                </a:solidFill>
              </a:rPr>
              <a:t>• Griscom et al. 2017 — 2,506 citations</a:t>
            </a:r>
            <a:endParaRPr lang="en-US" sz="1400" dirty="0"/>
          </a:p>
        </p:txBody>
      </p:sp>
      <p:sp>
        <p:nvSpPr>
          <p:cNvPr id="21" name="Text 18"/>
          <p:cNvSpPr/>
          <p:nvPr/>
        </p:nvSpPr>
        <p:spPr>
          <a:xfrm>
            <a:off x="7498080" y="6120384"/>
            <a:ext cx="4242816" cy="341376"/>
          </a:xfrm>
          <a:prstGeom prst="rect">
            <a:avLst/>
          </a:prstGeom>
          <a:noFill/>
          <a:ln/>
        </p:spPr>
        <p:txBody>
          <a:bodyPr wrap="square" rtlCol="0" anchor="ctr"/>
          <a:lstStyle/>
          <a:p>
            <a:r>
              <a:rPr lang="en-US" sz="1400" dirty="0">
                <a:solidFill>
                  <a:srgbClr val="C5CFE0"/>
                </a:solidFill>
              </a:rPr>
              <a:t>• Zhang et al. 2015 — 2,492 citations</a:t>
            </a:r>
            <a:endParaRPr lang="en-US" sz="1400" dirty="0"/>
          </a:p>
        </p:txBody>
      </p:sp>
      <p:sp>
        <p:nvSpPr>
          <p:cNvPr id="22" name="Text 19"/>
          <p:cNvSpPr/>
          <p:nvPr/>
        </p:nvSpPr>
        <p:spPr>
          <a:xfrm>
            <a:off x="304800" y="5486400"/>
            <a:ext cx="6705600" cy="463296"/>
          </a:xfrm>
          <a:prstGeom prst="rect">
            <a:avLst/>
          </a:prstGeom>
          <a:noFill/>
          <a:ln/>
        </p:spPr>
        <p:txBody>
          <a:bodyPr wrap="square" rtlCol="0" anchor="ctr"/>
          <a:lstStyle/>
          <a:p>
            <a:r>
              <a:rPr lang="en-US" sz="1400" i="1" dirty="0">
                <a:solidFill>
                  <a:srgbClr val="7A8BA8"/>
                </a:solidFill>
              </a:rPr>
              <a:t>5 of 10 most-cited works in Nature → Springer Nature dominates foundational scholarship</a:t>
            </a:r>
            <a:endParaRPr lang="en-US" sz="1400" dirty="0"/>
          </a:p>
        </p:txBody>
      </p:sp>
      <p:sp>
        <p:nvSpPr>
          <p:cNvPr id="23" name="Shape 20"/>
          <p:cNvSpPr/>
          <p:nvPr/>
        </p:nvSpPr>
        <p:spPr>
          <a:xfrm>
            <a:off x="0" y="6620256"/>
            <a:ext cx="12192000" cy="24384"/>
          </a:xfrm>
          <a:prstGeom prst="rect">
            <a:avLst/>
          </a:prstGeom>
          <a:solidFill>
            <a:srgbClr val="E8B400"/>
          </a:solidFill>
          <a:ln w="12700">
            <a:solidFill>
              <a:srgbClr val="E8B400"/>
            </a:solidFill>
            <a:prstDash val="solid"/>
          </a:ln>
        </p:spPr>
        <p:txBody>
          <a:bodyPr/>
          <a:lstStyle/>
          <a:p>
            <a:endParaRPr lang="en-US" sz="2400"/>
          </a:p>
        </p:txBody>
      </p:sp>
      <p:sp>
        <p:nvSpPr>
          <p:cNvPr id="24" name="Shape 21"/>
          <p:cNvSpPr/>
          <p:nvPr/>
        </p:nvSpPr>
        <p:spPr>
          <a:xfrm>
            <a:off x="0" y="6644640"/>
            <a:ext cx="12192000" cy="213360"/>
          </a:xfrm>
          <a:prstGeom prst="rect">
            <a:avLst/>
          </a:prstGeom>
          <a:solidFill>
            <a:srgbClr val="122952"/>
          </a:solidFill>
          <a:ln w="12700">
            <a:solidFill>
              <a:srgbClr val="122952"/>
            </a:solidFill>
            <a:prstDash val="solid"/>
          </a:ln>
        </p:spPr>
        <p:txBody>
          <a:bodyPr/>
          <a:lstStyle/>
          <a:p>
            <a:endParaRPr lang="en-US" sz="2400"/>
          </a:p>
        </p:txBody>
      </p:sp>
      <p:sp>
        <p:nvSpPr>
          <p:cNvPr id="25" name="Text 22"/>
          <p:cNvSpPr/>
          <p:nvPr/>
        </p:nvSpPr>
        <p:spPr>
          <a:xfrm>
            <a:off x="0" y="6644640"/>
            <a:ext cx="12192000" cy="213360"/>
          </a:xfrm>
          <a:prstGeom prst="rect">
            <a:avLst/>
          </a:prstGeom>
          <a:noFill/>
          <a:ln/>
        </p:spPr>
        <p:txBody>
          <a:bodyPr wrap="square" rtlCol="0" anchor="ctr"/>
          <a:lstStyle/>
          <a:p>
            <a:pPr algn="ctr"/>
            <a:r>
              <a:rPr lang="en-US" sz="1067" dirty="0">
                <a:solidFill>
                  <a:srgbClr val="C5CFE0"/>
                </a:solidFill>
              </a:rPr>
              <a:t>University of Cape Coast  •  Veritas Nobis Lumen  |  Truth, Our Guide</a:t>
            </a:r>
            <a:endParaRPr lang="en-US" sz="106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22952"/>
          </a:solidFill>
          <a:ln w="12700">
            <a:solidFill>
              <a:srgbClr val="122952"/>
            </a:solidFill>
            <a:prstDash val="solid"/>
          </a:ln>
        </p:spPr>
        <p:txBody>
          <a:bodyPr/>
          <a:lstStyle/>
          <a:p>
            <a:endParaRPr lang="en-US" sz="2400"/>
          </a:p>
        </p:txBody>
      </p:sp>
      <p:sp>
        <p:nvSpPr>
          <p:cNvPr id="3" name="Shape 1"/>
          <p:cNvSpPr/>
          <p:nvPr/>
        </p:nvSpPr>
        <p:spPr>
          <a:xfrm>
            <a:off x="0" y="914400"/>
            <a:ext cx="12192000" cy="48768"/>
          </a:xfrm>
          <a:prstGeom prst="rect">
            <a:avLst/>
          </a:prstGeom>
          <a:solidFill>
            <a:srgbClr val="E8B400"/>
          </a:solidFill>
          <a:ln w="12700">
            <a:solidFill>
              <a:srgbClr val="E8B400"/>
            </a:solidFill>
            <a:prstDash val="solid"/>
          </a:ln>
        </p:spPr>
        <p:txBody>
          <a:bodyPr/>
          <a:lstStyle/>
          <a:p>
            <a:endParaRPr lang="en-US" sz="2400"/>
          </a:p>
        </p:txBody>
      </p:sp>
      <p:sp>
        <p:nvSpPr>
          <p:cNvPr id="4" name="Shape 2"/>
          <p:cNvSpPr/>
          <p:nvPr/>
        </p:nvSpPr>
        <p:spPr>
          <a:xfrm>
            <a:off x="0" y="963168"/>
            <a:ext cx="12192000" cy="24384"/>
          </a:xfrm>
          <a:prstGeom prst="rect">
            <a:avLst/>
          </a:prstGeom>
          <a:solidFill>
            <a:srgbClr val="C0392B"/>
          </a:solidFill>
          <a:ln w="12700">
            <a:solidFill>
              <a:srgbClr val="C0392B"/>
            </a:solidFill>
            <a:prstDash val="solid"/>
          </a:ln>
        </p:spPr>
        <p:txBody>
          <a:bodyPr/>
          <a:lstStyle/>
          <a:p>
            <a:endParaRPr lang="en-US" sz="2400"/>
          </a:p>
        </p:txBody>
      </p:sp>
      <p:sp>
        <p:nvSpPr>
          <p:cNvPr id="5" name="Text 3"/>
          <p:cNvSpPr/>
          <p:nvPr/>
        </p:nvSpPr>
        <p:spPr>
          <a:xfrm>
            <a:off x="512064" y="0"/>
            <a:ext cx="10728960" cy="914400"/>
          </a:xfrm>
          <a:prstGeom prst="rect">
            <a:avLst/>
          </a:prstGeom>
          <a:noFill/>
          <a:ln/>
        </p:spPr>
        <p:txBody>
          <a:bodyPr wrap="square" rtlCol="0" anchor="ctr"/>
          <a:lstStyle/>
          <a:p>
            <a:r>
              <a:rPr lang="en-US" sz="2667" b="1" dirty="0">
                <a:solidFill>
                  <a:srgbClr val="FFFFFF"/>
                </a:solidFill>
                <a:latin typeface="Calibri" pitchFamily="34" charset="0"/>
                <a:ea typeface="Calibri" pitchFamily="34" charset="-122"/>
                <a:cs typeface="Calibri" pitchFamily="34" charset="-120"/>
              </a:rPr>
              <a:t>Thematic Evolution: From Climate-Smart Agriculture to Digital Food Systems</a:t>
            </a:r>
            <a:endParaRPr lang="en-US" sz="2667" dirty="0"/>
          </a:p>
        </p:txBody>
      </p:sp>
      <p:sp>
        <p:nvSpPr>
          <p:cNvPr id="6" name="Shape 4"/>
          <p:cNvSpPr/>
          <p:nvPr/>
        </p:nvSpPr>
        <p:spPr>
          <a:xfrm>
            <a:off x="341376" y="1097280"/>
            <a:ext cx="5303520" cy="5303520"/>
          </a:xfrm>
          <a:prstGeom prst="rect">
            <a:avLst/>
          </a:prstGeom>
          <a:solidFill>
            <a:srgbClr val="EBF0F8"/>
          </a:solidFill>
          <a:ln w="19050">
            <a:solidFill>
              <a:srgbClr val="1B3A6B"/>
            </a:solidFill>
            <a:prstDash val="solid"/>
          </a:ln>
        </p:spPr>
        <p:txBody>
          <a:bodyPr/>
          <a:lstStyle/>
          <a:p>
            <a:endParaRPr lang="en-US" sz="2400"/>
          </a:p>
        </p:txBody>
      </p:sp>
      <p:sp>
        <p:nvSpPr>
          <p:cNvPr id="7" name="Shape 5"/>
          <p:cNvSpPr/>
          <p:nvPr/>
        </p:nvSpPr>
        <p:spPr>
          <a:xfrm>
            <a:off x="341376" y="1097280"/>
            <a:ext cx="5303520" cy="512064"/>
          </a:xfrm>
          <a:prstGeom prst="rect">
            <a:avLst/>
          </a:prstGeom>
          <a:solidFill>
            <a:srgbClr val="1B3A6B"/>
          </a:solidFill>
          <a:ln w="12700">
            <a:solidFill>
              <a:srgbClr val="1B3A6B"/>
            </a:solidFill>
            <a:prstDash val="solid"/>
          </a:ln>
        </p:spPr>
        <p:txBody>
          <a:bodyPr/>
          <a:lstStyle/>
          <a:p>
            <a:endParaRPr lang="en-US" sz="2400"/>
          </a:p>
        </p:txBody>
      </p:sp>
      <p:sp>
        <p:nvSpPr>
          <p:cNvPr id="8" name="Text 6"/>
          <p:cNvSpPr/>
          <p:nvPr/>
        </p:nvSpPr>
        <p:spPr>
          <a:xfrm>
            <a:off x="341376" y="1097280"/>
            <a:ext cx="5303520" cy="512064"/>
          </a:xfrm>
          <a:prstGeom prst="rect">
            <a:avLst/>
          </a:prstGeom>
          <a:noFill/>
          <a:ln/>
        </p:spPr>
        <p:txBody>
          <a:bodyPr wrap="square" lIns="0" tIns="0" rIns="0" bIns="0" rtlCol="0" anchor="ctr"/>
          <a:lstStyle/>
          <a:p>
            <a:pPr algn="ctr"/>
            <a:r>
              <a:rPr lang="en-US" sz="3200" b="1" dirty="0">
                <a:solidFill>
                  <a:srgbClr val="FFFFFF"/>
                </a:solidFill>
              </a:rPr>
              <a:t>2015 – 2023</a:t>
            </a:r>
            <a:endParaRPr lang="en-US" sz="3200" dirty="0"/>
          </a:p>
        </p:txBody>
      </p:sp>
      <p:sp>
        <p:nvSpPr>
          <p:cNvPr id="9" name="Shape 7"/>
          <p:cNvSpPr/>
          <p:nvPr/>
        </p:nvSpPr>
        <p:spPr>
          <a:xfrm>
            <a:off x="512064" y="1755648"/>
            <a:ext cx="73152" cy="670560"/>
          </a:xfrm>
          <a:prstGeom prst="rect">
            <a:avLst/>
          </a:prstGeom>
          <a:solidFill>
            <a:srgbClr val="1B3A6B"/>
          </a:solidFill>
          <a:ln w="12700">
            <a:solidFill>
              <a:srgbClr val="1B3A6B"/>
            </a:solidFill>
            <a:prstDash val="solid"/>
          </a:ln>
        </p:spPr>
        <p:txBody>
          <a:bodyPr/>
          <a:lstStyle/>
          <a:p>
            <a:endParaRPr lang="en-US" sz="2400"/>
          </a:p>
        </p:txBody>
      </p:sp>
      <p:sp>
        <p:nvSpPr>
          <p:cNvPr id="10" name="Text 8"/>
          <p:cNvSpPr/>
          <p:nvPr/>
        </p:nvSpPr>
        <p:spPr>
          <a:xfrm>
            <a:off x="707136" y="1755648"/>
            <a:ext cx="4754880" cy="341376"/>
          </a:xfrm>
          <a:prstGeom prst="rect">
            <a:avLst/>
          </a:prstGeom>
          <a:noFill/>
          <a:ln/>
        </p:spPr>
        <p:txBody>
          <a:bodyPr wrap="square" rtlCol="0" anchor="ctr"/>
          <a:lstStyle/>
          <a:p>
            <a:r>
              <a:rPr lang="en-US" sz="2400" b="1" dirty="0">
                <a:solidFill>
                  <a:srgbClr val="1B3A6B"/>
                </a:solidFill>
                <a:latin typeface="Calibri" pitchFamily="34" charset="0"/>
                <a:ea typeface="Calibri" pitchFamily="34" charset="-122"/>
                <a:cs typeface="Calibri" pitchFamily="34" charset="-120"/>
              </a:rPr>
              <a:t>Research hotspots</a:t>
            </a:r>
            <a:endParaRPr lang="en-US" sz="2400" dirty="0"/>
          </a:p>
        </p:txBody>
      </p:sp>
      <p:sp>
        <p:nvSpPr>
          <p:cNvPr id="11" name="Text 9"/>
          <p:cNvSpPr/>
          <p:nvPr/>
        </p:nvSpPr>
        <p:spPr>
          <a:xfrm>
            <a:off x="707136" y="2084832"/>
            <a:ext cx="4754880" cy="536448"/>
          </a:xfrm>
          <a:prstGeom prst="rect">
            <a:avLst/>
          </a:prstGeom>
          <a:noFill/>
          <a:ln/>
        </p:spPr>
        <p:txBody>
          <a:bodyPr wrap="square" rtlCol="0" anchor="ctr"/>
          <a:lstStyle/>
          <a:p>
            <a:r>
              <a:rPr lang="en-US" sz="1867" dirty="0">
                <a:solidFill>
                  <a:srgbClr val="1A2E4A"/>
                </a:solidFill>
                <a:latin typeface="Calibri" pitchFamily="34" charset="0"/>
                <a:ea typeface="Calibri" pitchFamily="34" charset="-122"/>
                <a:cs typeface="Calibri" pitchFamily="34" charset="-120"/>
              </a:rPr>
              <a:t>Climate-smart agriculture, smart agriculture</a:t>
            </a:r>
            <a:endParaRPr lang="en-US" sz="1867" dirty="0"/>
          </a:p>
        </p:txBody>
      </p:sp>
      <p:sp>
        <p:nvSpPr>
          <p:cNvPr id="12" name="Shape 10"/>
          <p:cNvSpPr/>
          <p:nvPr/>
        </p:nvSpPr>
        <p:spPr>
          <a:xfrm>
            <a:off x="512064" y="2779776"/>
            <a:ext cx="73152" cy="670560"/>
          </a:xfrm>
          <a:prstGeom prst="rect">
            <a:avLst/>
          </a:prstGeom>
          <a:solidFill>
            <a:srgbClr val="1A7AB5"/>
          </a:solidFill>
          <a:ln w="12700">
            <a:solidFill>
              <a:srgbClr val="1A7AB5"/>
            </a:solidFill>
            <a:prstDash val="solid"/>
          </a:ln>
        </p:spPr>
        <p:txBody>
          <a:bodyPr/>
          <a:lstStyle/>
          <a:p>
            <a:endParaRPr lang="en-US" sz="2400"/>
          </a:p>
        </p:txBody>
      </p:sp>
      <p:sp>
        <p:nvSpPr>
          <p:cNvPr id="13" name="Text 11"/>
          <p:cNvSpPr/>
          <p:nvPr/>
        </p:nvSpPr>
        <p:spPr>
          <a:xfrm>
            <a:off x="707136" y="2779776"/>
            <a:ext cx="4754880" cy="341376"/>
          </a:xfrm>
          <a:prstGeom prst="rect">
            <a:avLst/>
          </a:prstGeom>
          <a:noFill/>
          <a:ln/>
        </p:spPr>
        <p:txBody>
          <a:bodyPr wrap="square" rtlCol="0" anchor="ctr"/>
          <a:lstStyle/>
          <a:p>
            <a:r>
              <a:rPr lang="en-US" sz="2400" b="1" dirty="0">
                <a:solidFill>
                  <a:srgbClr val="1B3A6B"/>
                </a:solidFill>
                <a:latin typeface="Calibri" pitchFamily="34" charset="0"/>
                <a:ea typeface="Calibri" pitchFamily="34" charset="-122"/>
                <a:cs typeface="Calibri" pitchFamily="34" charset="-120"/>
              </a:rPr>
              <a:t>The field's foundations</a:t>
            </a:r>
            <a:endParaRPr lang="en-US" sz="2400" dirty="0"/>
          </a:p>
        </p:txBody>
      </p:sp>
      <p:sp>
        <p:nvSpPr>
          <p:cNvPr id="14" name="Text 12"/>
          <p:cNvSpPr/>
          <p:nvPr/>
        </p:nvSpPr>
        <p:spPr>
          <a:xfrm>
            <a:off x="707136" y="3108960"/>
            <a:ext cx="4754880" cy="536448"/>
          </a:xfrm>
          <a:prstGeom prst="rect">
            <a:avLst/>
          </a:prstGeom>
          <a:noFill/>
          <a:ln/>
        </p:spPr>
        <p:txBody>
          <a:bodyPr wrap="square" rtlCol="0" anchor="ctr"/>
          <a:lstStyle/>
          <a:p>
            <a:r>
              <a:rPr lang="en-US" sz="1867" dirty="0">
                <a:solidFill>
                  <a:srgbClr val="1A2E4A"/>
                </a:solidFill>
                <a:latin typeface="Calibri" pitchFamily="34" charset="0"/>
                <a:ea typeface="Calibri" pitchFamily="34" charset="-122"/>
                <a:cs typeface="Calibri" pitchFamily="34" charset="-120"/>
              </a:rPr>
              <a:t>Food security, food systems, climate change, crop production</a:t>
            </a:r>
            <a:endParaRPr lang="en-US" sz="1867" dirty="0"/>
          </a:p>
        </p:txBody>
      </p:sp>
      <p:sp>
        <p:nvSpPr>
          <p:cNvPr id="15" name="Shape 13"/>
          <p:cNvSpPr/>
          <p:nvPr/>
        </p:nvSpPr>
        <p:spPr>
          <a:xfrm>
            <a:off x="512064" y="3803904"/>
            <a:ext cx="73152" cy="670560"/>
          </a:xfrm>
          <a:prstGeom prst="rect">
            <a:avLst/>
          </a:prstGeom>
          <a:solidFill>
            <a:srgbClr val="C0392B"/>
          </a:solidFill>
          <a:ln w="12700">
            <a:solidFill>
              <a:srgbClr val="C0392B"/>
            </a:solidFill>
            <a:prstDash val="solid"/>
          </a:ln>
        </p:spPr>
        <p:txBody>
          <a:bodyPr/>
          <a:lstStyle/>
          <a:p>
            <a:endParaRPr lang="en-US" sz="2400"/>
          </a:p>
        </p:txBody>
      </p:sp>
      <p:sp>
        <p:nvSpPr>
          <p:cNvPr id="16" name="Text 14"/>
          <p:cNvSpPr/>
          <p:nvPr/>
        </p:nvSpPr>
        <p:spPr>
          <a:xfrm>
            <a:off x="707136" y="3803904"/>
            <a:ext cx="4754880" cy="341376"/>
          </a:xfrm>
          <a:prstGeom prst="rect">
            <a:avLst/>
          </a:prstGeom>
          <a:noFill/>
          <a:ln/>
        </p:spPr>
        <p:txBody>
          <a:bodyPr wrap="square" rtlCol="0" anchor="ctr"/>
          <a:lstStyle/>
          <a:p>
            <a:r>
              <a:rPr lang="en-US" sz="2400" b="1" dirty="0">
                <a:solidFill>
                  <a:srgbClr val="1B3A6B"/>
                </a:solidFill>
                <a:latin typeface="Calibri" pitchFamily="34" charset="0"/>
                <a:ea typeface="Calibri" pitchFamily="34" charset="-122"/>
                <a:cs typeface="Calibri" pitchFamily="34" charset="-120"/>
              </a:rPr>
              <a:t>Specialist pockets</a:t>
            </a:r>
            <a:endParaRPr lang="en-US" sz="2400" dirty="0"/>
          </a:p>
        </p:txBody>
      </p:sp>
      <p:sp>
        <p:nvSpPr>
          <p:cNvPr id="17" name="Text 15"/>
          <p:cNvSpPr/>
          <p:nvPr/>
        </p:nvSpPr>
        <p:spPr>
          <a:xfrm>
            <a:off x="707136" y="4133088"/>
            <a:ext cx="4754880" cy="536448"/>
          </a:xfrm>
          <a:prstGeom prst="rect">
            <a:avLst/>
          </a:prstGeom>
          <a:noFill/>
          <a:ln/>
        </p:spPr>
        <p:txBody>
          <a:bodyPr wrap="square" rtlCol="0" anchor="ctr"/>
          <a:lstStyle/>
          <a:p>
            <a:r>
              <a:rPr lang="en-US" sz="1867" dirty="0">
                <a:solidFill>
                  <a:srgbClr val="1A2E4A"/>
                </a:solidFill>
                <a:latin typeface="Calibri" pitchFamily="34" charset="0"/>
                <a:ea typeface="Calibri" pitchFamily="34" charset="-122"/>
                <a:cs typeface="Calibri" pitchFamily="34" charset="-120"/>
              </a:rPr>
              <a:t>Climate variability; specialised, isolated subfield</a:t>
            </a:r>
            <a:endParaRPr lang="en-US" sz="1867" dirty="0"/>
          </a:p>
        </p:txBody>
      </p:sp>
      <p:sp>
        <p:nvSpPr>
          <p:cNvPr id="18" name="Shape 16"/>
          <p:cNvSpPr/>
          <p:nvPr/>
        </p:nvSpPr>
        <p:spPr>
          <a:xfrm>
            <a:off x="512064" y="4828032"/>
            <a:ext cx="73152" cy="670560"/>
          </a:xfrm>
          <a:prstGeom prst="rect">
            <a:avLst/>
          </a:prstGeom>
          <a:solidFill>
            <a:srgbClr val="7A8BA8"/>
          </a:solidFill>
          <a:ln w="12700">
            <a:solidFill>
              <a:srgbClr val="7A8BA8"/>
            </a:solidFill>
            <a:prstDash val="solid"/>
          </a:ln>
        </p:spPr>
        <p:txBody>
          <a:bodyPr/>
          <a:lstStyle/>
          <a:p>
            <a:endParaRPr lang="en-US" sz="2400"/>
          </a:p>
        </p:txBody>
      </p:sp>
      <p:sp>
        <p:nvSpPr>
          <p:cNvPr id="19" name="Text 17"/>
          <p:cNvSpPr/>
          <p:nvPr/>
        </p:nvSpPr>
        <p:spPr>
          <a:xfrm>
            <a:off x="707136" y="4828032"/>
            <a:ext cx="4754880" cy="341376"/>
          </a:xfrm>
          <a:prstGeom prst="rect">
            <a:avLst/>
          </a:prstGeom>
          <a:noFill/>
          <a:ln/>
        </p:spPr>
        <p:txBody>
          <a:bodyPr wrap="square" rtlCol="0" anchor="ctr"/>
          <a:lstStyle/>
          <a:p>
            <a:r>
              <a:rPr lang="en-US" sz="2400" b="1" dirty="0">
                <a:solidFill>
                  <a:srgbClr val="1B3A6B"/>
                </a:solidFill>
                <a:latin typeface="Calibri" pitchFamily="34" charset="0"/>
                <a:ea typeface="Calibri" pitchFamily="34" charset="-122"/>
                <a:cs typeface="Calibri" pitchFamily="34" charset="-120"/>
              </a:rPr>
              <a:t>Topics on the rise</a:t>
            </a:r>
            <a:endParaRPr lang="en-US" sz="2400" dirty="0"/>
          </a:p>
        </p:txBody>
      </p:sp>
      <p:sp>
        <p:nvSpPr>
          <p:cNvPr id="20" name="Text 18"/>
          <p:cNvSpPr/>
          <p:nvPr/>
        </p:nvSpPr>
        <p:spPr>
          <a:xfrm>
            <a:off x="707136" y="5157216"/>
            <a:ext cx="4754880" cy="536448"/>
          </a:xfrm>
          <a:prstGeom prst="rect">
            <a:avLst/>
          </a:prstGeom>
          <a:noFill/>
          <a:ln/>
        </p:spPr>
        <p:txBody>
          <a:bodyPr wrap="square" rtlCol="0" anchor="ctr"/>
          <a:lstStyle/>
          <a:p>
            <a:r>
              <a:rPr lang="en-US" sz="1867" dirty="0">
                <a:solidFill>
                  <a:srgbClr val="1A2E4A"/>
                </a:solidFill>
                <a:latin typeface="Calibri" pitchFamily="34" charset="0"/>
                <a:ea typeface="Calibri" pitchFamily="34" charset="-122"/>
                <a:cs typeface="Calibri" pitchFamily="34" charset="-120"/>
              </a:rPr>
              <a:t>Machine learning &amp; remote sensing gaining momentum</a:t>
            </a:r>
            <a:endParaRPr lang="en-US" sz="1867" dirty="0"/>
          </a:p>
        </p:txBody>
      </p:sp>
      <p:sp>
        <p:nvSpPr>
          <p:cNvPr id="21" name="Shape 19"/>
          <p:cNvSpPr/>
          <p:nvPr/>
        </p:nvSpPr>
        <p:spPr>
          <a:xfrm>
            <a:off x="5754624" y="3291840"/>
            <a:ext cx="682752" cy="390144"/>
          </a:xfrm>
          <a:prstGeom prst="rect">
            <a:avLst/>
          </a:prstGeom>
          <a:solidFill>
            <a:srgbClr val="E8B400"/>
          </a:solidFill>
          <a:ln w="12700">
            <a:solidFill>
              <a:srgbClr val="E8B400"/>
            </a:solidFill>
            <a:prstDash val="solid"/>
          </a:ln>
        </p:spPr>
        <p:txBody>
          <a:bodyPr/>
          <a:lstStyle/>
          <a:p>
            <a:endParaRPr lang="en-US" sz="2400"/>
          </a:p>
        </p:txBody>
      </p:sp>
      <p:sp>
        <p:nvSpPr>
          <p:cNvPr id="22" name="Text 20"/>
          <p:cNvSpPr/>
          <p:nvPr/>
        </p:nvSpPr>
        <p:spPr>
          <a:xfrm>
            <a:off x="5754624" y="3291840"/>
            <a:ext cx="682752" cy="390144"/>
          </a:xfrm>
          <a:prstGeom prst="rect">
            <a:avLst/>
          </a:prstGeom>
          <a:noFill/>
          <a:ln/>
        </p:spPr>
        <p:txBody>
          <a:bodyPr wrap="square" lIns="0" tIns="0" rIns="0" bIns="0" rtlCol="0" anchor="ctr"/>
          <a:lstStyle/>
          <a:p>
            <a:pPr algn="ctr"/>
            <a:r>
              <a:rPr lang="en-US" sz="1867" dirty="0">
                <a:solidFill>
                  <a:srgbClr val="122952"/>
                </a:solidFill>
              </a:rPr>
              <a:t>▶</a:t>
            </a:r>
            <a:endParaRPr lang="en-US" sz="1867" dirty="0"/>
          </a:p>
        </p:txBody>
      </p:sp>
      <p:sp>
        <p:nvSpPr>
          <p:cNvPr id="23" name="Text 21"/>
          <p:cNvSpPr/>
          <p:nvPr/>
        </p:nvSpPr>
        <p:spPr>
          <a:xfrm>
            <a:off x="5669280" y="3755136"/>
            <a:ext cx="853440" cy="463296"/>
          </a:xfrm>
          <a:prstGeom prst="rect">
            <a:avLst/>
          </a:prstGeom>
          <a:noFill/>
          <a:ln/>
        </p:spPr>
        <p:txBody>
          <a:bodyPr wrap="square" rtlCol="0" anchor="ctr"/>
          <a:lstStyle/>
          <a:p>
            <a:pPr algn="ctr"/>
            <a:r>
              <a:rPr lang="en-US" sz="1467" dirty="0">
                <a:solidFill>
                  <a:srgbClr val="E8B400"/>
                </a:solidFill>
              </a:rPr>
              <a:t>Tech</a:t>
            </a:r>
            <a:endParaRPr lang="en-US" sz="1467" dirty="0"/>
          </a:p>
          <a:p>
            <a:pPr algn="ctr"/>
            <a:r>
              <a:rPr lang="en-US" sz="1467" dirty="0">
                <a:solidFill>
                  <a:srgbClr val="E8B400"/>
                </a:solidFill>
              </a:rPr>
              <a:t>Turn</a:t>
            </a:r>
            <a:endParaRPr lang="en-US" sz="1467" dirty="0"/>
          </a:p>
        </p:txBody>
      </p:sp>
      <p:sp>
        <p:nvSpPr>
          <p:cNvPr id="24" name="Shape 22"/>
          <p:cNvSpPr/>
          <p:nvPr/>
        </p:nvSpPr>
        <p:spPr>
          <a:xfrm>
            <a:off x="6559296" y="1097280"/>
            <a:ext cx="5303520" cy="5303520"/>
          </a:xfrm>
          <a:prstGeom prst="rect">
            <a:avLst/>
          </a:prstGeom>
          <a:solidFill>
            <a:srgbClr val="EBF5FB"/>
          </a:solidFill>
          <a:ln w="19050">
            <a:solidFill>
              <a:srgbClr val="1A7AB5"/>
            </a:solidFill>
            <a:prstDash val="solid"/>
          </a:ln>
        </p:spPr>
        <p:txBody>
          <a:bodyPr/>
          <a:lstStyle/>
          <a:p>
            <a:endParaRPr lang="en-US" sz="4800"/>
          </a:p>
        </p:txBody>
      </p:sp>
      <p:sp>
        <p:nvSpPr>
          <p:cNvPr id="25" name="Shape 23"/>
          <p:cNvSpPr/>
          <p:nvPr/>
        </p:nvSpPr>
        <p:spPr>
          <a:xfrm>
            <a:off x="6559296" y="1097280"/>
            <a:ext cx="5303520" cy="512064"/>
          </a:xfrm>
          <a:prstGeom prst="rect">
            <a:avLst/>
          </a:prstGeom>
          <a:solidFill>
            <a:srgbClr val="1A7AB5"/>
          </a:solidFill>
          <a:ln w="12700">
            <a:solidFill>
              <a:srgbClr val="1A7AB5"/>
            </a:solidFill>
            <a:prstDash val="solid"/>
          </a:ln>
        </p:spPr>
        <p:txBody>
          <a:bodyPr/>
          <a:lstStyle/>
          <a:p>
            <a:endParaRPr lang="en-US" sz="2400"/>
          </a:p>
        </p:txBody>
      </p:sp>
      <p:sp>
        <p:nvSpPr>
          <p:cNvPr id="26" name="Text 24"/>
          <p:cNvSpPr/>
          <p:nvPr/>
        </p:nvSpPr>
        <p:spPr>
          <a:xfrm>
            <a:off x="6559296" y="1097280"/>
            <a:ext cx="5303520" cy="512064"/>
          </a:xfrm>
          <a:prstGeom prst="rect">
            <a:avLst/>
          </a:prstGeom>
          <a:noFill/>
          <a:ln/>
        </p:spPr>
        <p:txBody>
          <a:bodyPr wrap="square" lIns="0" tIns="0" rIns="0" bIns="0" rtlCol="0" anchor="ctr"/>
          <a:lstStyle/>
          <a:p>
            <a:pPr algn="ctr"/>
            <a:r>
              <a:rPr lang="en-US" sz="3200" b="1" dirty="0">
                <a:solidFill>
                  <a:srgbClr val="FFFFFF"/>
                </a:solidFill>
              </a:rPr>
              <a:t>2024 – 2026</a:t>
            </a:r>
            <a:endParaRPr lang="en-US" sz="3200" dirty="0"/>
          </a:p>
        </p:txBody>
      </p:sp>
      <p:sp>
        <p:nvSpPr>
          <p:cNvPr id="27" name="Shape 25"/>
          <p:cNvSpPr/>
          <p:nvPr/>
        </p:nvSpPr>
        <p:spPr>
          <a:xfrm>
            <a:off x="6729984" y="1755648"/>
            <a:ext cx="73152" cy="670560"/>
          </a:xfrm>
          <a:prstGeom prst="rect">
            <a:avLst/>
          </a:prstGeom>
          <a:solidFill>
            <a:srgbClr val="E8B400"/>
          </a:solidFill>
          <a:ln w="12700">
            <a:solidFill>
              <a:srgbClr val="E8B400"/>
            </a:solidFill>
            <a:prstDash val="solid"/>
          </a:ln>
        </p:spPr>
        <p:txBody>
          <a:bodyPr/>
          <a:lstStyle/>
          <a:p>
            <a:endParaRPr lang="en-US" sz="2400"/>
          </a:p>
        </p:txBody>
      </p:sp>
      <p:sp>
        <p:nvSpPr>
          <p:cNvPr id="28" name="Text 26"/>
          <p:cNvSpPr/>
          <p:nvPr/>
        </p:nvSpPr>
        <p:spPr>
          <a:xfrm>
            <a:off x="6925056" y="1755648"/>
            <a:ext cx="4754880" cy="341376"/>
          </a:xfrm>
          <a:prstGeom prst="rect">
            <a:avLst/>
          </a:prstGeom>
          <a:noFill/>
          <a:ln/>
        </p:spPr>
        <p:txBody>
          <a:bodyPr wrap="square" rtlCol="0" anchor="ctr"/>
          <a:lstStyle/>
          <a:p>
            <a:r>
              <a:rPr lang="en-US" sz="2400" b="1" dirty="0">
                <a:solidFill>
                  <a:srgbClr val="1B3A6B"/>
                </a:solidFill>
                <a:latin typeface="Calibri" pitchFamily="34" charset="0"/>
                <a:ea typeface="Calibri" pitchFamily="34" charset="-122"/>
                <a:cs typeface="Calibri" pitchFamily="34" charset="-120"/>
              </a:rPr>
              <a:t>No Research hotspots</a:t>
            </a:r>
            <a:endParaRPr lang="en-US" sz="2400" dirty="0"/>
          </a:p>
        </p:txBody>
      </p:sp>
      <p:sp>
        <p:nvSpPr>
          <p:cNvPr id="29" name="Text 27"/>
          <p:cNvSpPr/>
          <p:nvPr/>
        </p:nvSpPr>
        <p:spPr>
          <a:xfrm>
            <a:off x="6925056" y="2084832"/>
            <a:ext cx="4754880" cy="536448"/>
          </a:xfrm>
          <a:prstGeom prst="rect">
            <a:avLst/>
          </a:prstGeom>
          <a:noFill/>
          <a:ln/>
        </p:spPr>
        <p:txBody>
          <a:bodyPr wrap="square" rtlCol="0" anchor="ctr"/>
          <a:lstStyle/>
          <a:p>
            <a:r>
              <a:rPr lang="en-US" sz="1867" dirty="0">
                <a:solidFill>
                  <a:srgbClr val="1A2E4A"/>
                </a:solidFill>
                <a:latin typeface="Calibri" pitchFamily="34" charset="0"/>
                <a:ea typeface="Calibri" pitchFamily="34" charset="-122"/>
                <a:cs typeface="Calibri" pitchFamily="34" charset="-120"/>
              </a:rPr>
              <a:t>Transitional phase; no single dominant framework yet</a:t>
            </a:r>
            <a:endParaRPr lang="en-US" sz="1867" dirty="0"/>
          </a:p>
        </p:txBody>
      </p:sp>
      <p:sp>
        <p:nvSpPr>
          <p:cNvPr id="30" name="Shape 28"/>
          <p:cNvSpPr/>
          <p:nvPr/>
        </p:nvSpPr>
        <p:spPr>
          <a:xfrm>
            <a:off x="6729984" y="2779776"/>
            <a:ext cx="73152" cy="670560"/>
          </a:xfrm>
          <a:prstGeom prst="rect">
            <a:avLst/>
          </a:prstGeom>
          <a:solidFill>
            <a:srgbClr val="1A7AB5"/>
          </a:solidFill>
          <a:ln w="12700">
            <a:solidFill>
              <a:srgbClr val="1A7AB5"/>
            </a:solidFill>
            <a:prstDash val="solid"/>
          </a:ln>
        </p:spPr>
        <p:txBody>
          <a:bodyPr/>
          <a:lstStyle/>
          <a:p>
            <a:endParaRPr lang="en-US" sz="2400"/>
          </a:p>
        </p:txBody>
      </p:sp>
      <p:sp>
        <p:nvSpPr>
          <p:cNvPr id="31" name="Text 29"/>
          <p:cNvSpPr/>
          <p:nvPr/>
        </p:nvSpPr>
        <p:spPr>
          <a:xfrm>
            <a:off x="6925056" y="2779776"/>
            <a:ext cx="4754880" cy="341376"/>
          </a:xfrm>
          <a:prstGeom prst="rect">
            <a:avLst/>
          </a:prstGeom>
          <a:noFill/>
          <a:ln/>
        </p:spPr>
        <p:txBody>
          <a:bodyPr wrap="square" rtlCol="0" anchor="ctr"/>
          <a:lstStyle/>
          <a:p>
            <a:r>
              <a:rPr lang="en-US" sz="2400" b="1" dirty="0">
                <a:solidFill>
                  <a:srgbClr val="1B3A6B"/>
                </a:solidFill>
                <a:latin typeface="Calibri" pitchFamily="34" charset="0"/>
                <a:ea typeface="Calibri" pitchFamily="34" charset="-122"/>
                <a:cs typeface="Calibri" pitchFamily="34" charset="-120"/>
              </a:rPr>
              <a:t>The field's foundations</a:t>
            </a:r>
            <a:endParaRPr lang="en-US" sz="2400" dirty="0"/>
          </a:p>
        </p:txBody>
      </p:sp>
      <p:sp>
        <p:nvSpPr>
          <p:cNvPr id="32" name="Text 30"/>
          <p:cNvSpPr/>
          <p:nvPr/>
        </p:nvSpPr>
        <p:spPr>
          <a:xfrm>
            <a:off x="6925056" y="3108960"/>
            <a:ext cx="4754880" cy="536448"/>
          </a:xfrm>
          <a:prstGeom prst="rect">
            <a:avLst/>
          </a:prstGeom>
          <a:noFill/>
          <a:ln/>
        </p:spPr>
        <p:txBody>
          <a:bodyPr wrap="square" rtlCol="0" anchor="ctr"/>
          <a:lstStyle/>
          <a:p>
            <a:r>
              <a:rPr lang="en-US" sz="1867" dirty="0">
                <a:solidFill>
                  <a:srgbClr val="1A2E4A"/>
                </a:solidFill>
                <a:latin typeface="Calibri" pitchFamily="34" charset="0"/>
                <a:ea typeface="Calibri" pitchFamily="34" charset="-122"/>
                <a:cs typeface="Calibri" pitchFamily="34" charset="-120"/>
              </a:rPr>
              <a:t>Food security, climate change &amp; food systems persist</a:t>
            </a:r>
            <a:endParaRPr lang="en-US" sz="1867" dirty="0"/>
          </a:p>
        </p:txBody>
      </p:sp>
      <p:sp>
        <p:nvSpPr>
          <p:cNvPr id="33" name="Shape 31"/>
          <p:cNvSpPr/>
          <p:nvPr/>
        </p:nvSpPr>
        <p:spPr>
          <a:xfrm>
            <a:off x="6729984" y="3803904"/>
            <a:ext cx="73152" cy="670560"/>
          </a:xfrm>
          <a:prstGeom prst="rect">
            <a:avLst/>
          </a:prstGeom>
          <a:solidFill>
            <a:srgbClr val="2B5FA8"/>
          </a:solidFill>
          <a:ln w="12700">
            <a:solidFill>
              <a:srgbClr val="2B5FA8"/>
            </a:solidFill>
            <a:prstDash val="solid"/>
          </a:ln>
        </p:spPr>
        <p:txBody>
          <a:bodyPr/>
          <a:lstStyle/>
          <a:p>
            <a:endParaRPr lang="en-US" sz="2400"/>
          </a:p>
        </p:txBody>
      </p:sp>
      <p:sp>
        <p:nvSpPr>
          <p:cNvPr id="34" name="Text 32"/>
          <p:cNvSpPr/>
          <p:nvPr/>
        </p:nvSpPr>
        <p:spPr>
          <a:xfrm>
            <a:off x="6925056" y="3803904"/>
            <a:ext cx="4754880" cy="341376"/>
          </a:xfrm>
          <a:prstGeom prst="rect">
            <a:avLst/>
          </a:prstGeom>
          <a:noFill/>
          <a:ln/>
        </p:spPr>
        <p:txBody>
          <a:bodyPr wrap="square" rtlCol="0" anchor="ctr"/>
          <a:lstStyle/>
          <a:p>
            <a:r>
              <a:rPr lang="en-US" sz="2400" b="1" dirty="0">
                <a:solidFill>
                  <a:srgbClr val="1B3A6B"/>
                </a:solidFill>
                <a:latin typeface="Calibri" pitchFamily="34" charset="0"/>
                <a:ea typeface="Calibri" pitchFamily="34" charset="-122"/>
                <a:cs typeface="Calibri" pitchFamily="34" charset="-120"/>
              </a:rPr>
              <a:t>Emerging Core</a:t>
            </a:r>
            <a:endParaRPr lang="en-US" sz="2400" dirty="0"/>
          </a:p>
        </p:txBody>
      </p:sp>
      <p:sp>
        <p:nvSpPr>
          <p:cNvPr id="35" name="Text 33"/>
          <p:cNvSpPr/>
          <p:nvPr/>
        </p:nvSpPr>
        <p:spPr>
          <a:xfrm>
            <a:off x="6925056" y="4133088"/>
            <a:ext cx="4754880" cy="536448"/>
          </a:xfrm>
          <a:prstGeom prst="rect">
            <a:avLst/>
          </a:prstGeom>
          <a:noFill/>
          <a:ln/>
        </p:spPr>
        <p:txBody>
          <a:bodyPr wrap="square" rtlCol="0" anchor="ctr"/>
          <a:lstStyle/>
          <a:p>
            <a:r>
              <a:rPr lang="en-US" sz="1867" dirty="0">
                <a:solidFill>
                  <a:srgbClr val="1A2E4A"/>
                </a:solidFill>
                <a:latin typeface="Calibri" pitchFamily="34" charset="0"/>
                <a:ea typeface="Calibri" pitchFamily="34" charset="-122"/>
                <a:cs typeface="Calibri" pitchFamily="34" charset="-120"/>
              </a:rPr>
              <a:t>Machine learning, deep learning, disease detection</a:t>
            </a:r>
            <a:endParaRPr lang="en-US" sz="1867" dirty="0"/>
          </a:p>
        </p:txBody>
      </p:sp>
      <p:sp>
        <p:nvSpPr>
          <p:cNvPr id="36" name="Shape 34"/>
          <p:cNvSpPr/>
          <p:nvPr/>
        </p:nvSpPr>
        <p:spPr>
          <a:xfrm>
            <a:off x="6729984" y="4828032"/>
            <a:ext cx="73152" cy="670560"/>
          </a:xfrm>
          <a:prstGeom prst="rect">
            <a:avLst/>
          </a:prstGeom>
          <a:solidFill>
            <a:srgbClr val="7A8BA8"/>
          </a:solidFill>
          <a:ln w="12700">
            <a:solidFill>
              <a:srgbClr val="7A8BA8"/>
            </a:solidFill>
            <a:prstDash val="solid"/>
          </a:ln>
        </p:spPr>
        <p:txBody>
          <a:bodyPr/>
          <a:lstStyle/>
          <a:p>
            <a:endParaRPr lang="en-US" sz="2400"/>
          </a:p>
        </p:txBody>
      </p:sp>
      <p:sp>
        <p:nvSpPr>
          <p:cNvPr id="37" name="Text 35"/>
          <p:cNvSpPr/>
          <p:nvPr/>
        </p:nvSpPr>
        <p:spPr>
          <a:xfrm>
            <a:off x="6925056" y="4828032"/>
            <a:ext cx="4754880" cy="341376"/>
          </a:xfrm>
          <a:prstGeom prst="rect">
            <a:avLst/>
          </a:prstGeom>
          <a:noFill/>
          <a:ln/>
        </p:spPr>
        <p:txBody>
          <a:bodyPr wrap="square" rtlCol="0" anchor="ctr"/>
          <a:lstStyle/>
          <a:p>
            <a:r>
              <a:rPr lang="en-US" sz="2133" b="1" dirty="0">
                <a:solidFill>
                  <a:srgbClr val="1B3A6B"/>
                </a:solidFill>
                <a:latin typeface="Calibri" pitchFamily="34" charset="0"/>
                <a:ea typeface="Calibri" pitchFamily="34" charset="-122"/>
                <a:cs typeface="Calibri" pitchFamily="34" charset="-120"/>
              </a:rPr>
              <a:t>Niche Growth</a:t>
            </a:r>
            <a:endParaRPr lang="en-US" sz="2133" dirty="0"/>
          </a:p>
        </p:txBody>
      </p:sp>
      <p:sp>
        <p:nvSpPr>
          <p:cNvPr id="38" name="Text 36"/>
          <p:cNvSpPr/>
          <p:nvPr/>
        </p:nvSpPr>
        <p:spPr>
          <a:xfrm>
            <a:off x="6925056" y="5157216"/>
            <a:ext cx="4754880" cy="536448"/>
          </a:xfrm>
          <a:prstGeom prst="rect">
            <a:avLst/>
          </a:prstGeom>
          <a:noFill/>
          <a:ln/>
        </p:spPr>
        <p:txBody>
          <a:bodyPr wrap="square" rtlCol="0" anchor="ctr"/>
          <a:lstStyle/>
          <a:p>
            <a:r>
              <a:rPr lang="en-US" sz="1867" dirty="0">
                <a:solidFill>
                  <a:srgbClr val="1A2E4A"/>
                </a:solidFill>
                <a:latin typeface="Calibri" pitchFamily="34" charset="0"/>
                <a:ea typeface="Calibri" pitchFamily="34" charset="-122"/>
                <a:cs typeface="Calibri" pitchFamily="34" charset="-120"/>
              </a:rPr>
              <a:t>Sustainable development, supply chains, soil health</a:t>
            </a:r>
            <a:endParaRPr lang="en-US" sz="1867" dirty="0"/>
          </a:p>
        </p:txBody>
      </p:sp>
      <p:sp>
        <p:nvSpPr>
          <p:cNvPr id="39" name="Shape 37"/>
          <p:cNvSpPr/>
          <p:nvPr/>
        </p:nvSpPr>
        <p:spPr>
          <a:xfrm>
            <a:off x="0" y="6620256"/>
            <a:ext cx="12192000" cy="24384"/>
          </a:xfrm>
          <a:prstGeom prst="rect">
            <a:avLst/>
          </a:prstGeom>
          <a:solidFill>
            <a:srgbClr val="E8B400"/>
          </a:solidFill>
          <a:ln w="12700">
            <a:solidFill>
              <a:srgbClr val="E8B400"/>
            </a:solidFill>
            <a:prstDash val="solid"/>
          </a:ln>
        </p:spPr>
        <p:txBody>
          <a:bodyPr/>
          <a:lstStyle/>
          <a:p>
            <a:endParaRPr lang="en-US" sz="2400"/>
          </a:p>
        </p:txBody>
      </p:sp>
      <p:sp>
        <p:nvSpPr>
          <p:cNvPr id="40" name="Shape 38"/>
          <p:cNvSpPr/>
          <p:nvPr/>
        </p:nvSpPr>
        <p:spPr>
          <a:xfrm>
            <a:off x="0" y="6644640"/>
            <a:ext cx="12192000" cy="213360"/>
          </a:xfrm>
          <a:prstGeom prst="rect">
            <a:avLst/>
          </a:prstGeom>
          <a:solidFill>
            <a:srgbClr val="122952"/>
          </a:solidFill>
          <a:ln w="12700">
            <a:solidFill>
              <a:srgbClr val="122952"/>
            </a:solidFill>
            <a:prstDash val="solid"/>
          </a:ln>
        </p:spPr>
        <p:txBody>
          <a:bodyPr/>
          <a:lstStyle/>
          <a:p>
            <a:endParaRPr lang="en-US" sz="2400"/>
          </a:p>
        </p:txBody>
      </p:sp>
      <p:sp>
        <p:nvSpPr>
          <p:cNvPr id="41" name="Text 39"/>
          <p:cNvSpPr/>
          <p:nvPr/>
        </p:nvSpPr>
        <p:spPr>
          <a:xfrm>
            <a:off x="0" y="6644640"/>
            <a:ext cx="12192000" cy="213360"/>
          </a:xfrm>
          <a:prstGeom prst="rect">
            <a:avLst/>
          </a:prstGeom>
          <a:noFill/>
          <a:ln/>
        </p:spPr>
        <p:txBody>
          <a:bodyPr wrap="square" rtlCol="0" anchor="ctr"/>
          <a:lstStyle/>
          <a:p>
            <a:pPr algn="ctr"/>
            <a:r>
              <a:rPr lang="en-US" sz="1067" dirty="0">
                <a:solidFill>
                  <a:srgbClr val="C5CFE0"/>
                </a:solidFill>
              </a:rPr>
              <a:t>University of Cape Coast  •  Veritas Nobis Lumen  |  Truth, Our Guide</a:t>
            </a:r>
            <a:endParaRPr lang="en-US" sz="106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22952"/>
          </a:solidFill>
          <a:ln w="12700">
            <a:solidFill>
              <a:srgbClr val="122952"/>
            </a:solidFill>
            <a:prstDash val="solid"/>
          </a:ln>
        </p:spPr>
        <p:txBody>
          <a:bodyPr/>
          <a:lstStyle/>
          <a:p>
            <a:endParaRPr lang="en-US" sz="2400"/>
          </a:p>
        </p:txBody>
      </p:sp>
      <p:sp>
        <p:nvSpPr>
          <p:cNvPr id="3" name="Shape 1"/>
          <p:cNvSpPr/>
          <p:nvPr/>
        </p:nvSpPr>
        <p:spPr>
          <a:xfrm>
            <a:off x="0" y="914400"/>
            <a:ext cx="12192000" cy="48768"/>
          </a:xfrm>
          <a:prstGeom prst="rect">
            <a:avLst/>
          </a:prstGeom>
          <a:solidFill>
            <a:srgbClr val="E8B400"/>
          </a:solidFill>
          <a:ln w="12700">
            <a:solidFill>
              <a:srgbClr val="E8B400"/>
            </a:solidFill>
            <a:prstDash val="solid"/>
          </a:ln>
        </p:spPr>
        <p:txBody>
          <a:bodyPr/>
          <a:lstStyle/>
          <a:p>
            <a:endParaRPr lang="en-US" sz="2400"/>
          </a:p>
        </p:txBody>
      </p:sp>
      <p:sp>
        <p:nvSpPr>
          <p:cNvPr id="4" name="Shape 2"/>
          <p:cNvSpPr/>
          <p:nvPr/>
        </p:nvSpPr>
        <p:spPr>
          <a:xfrm>
            <a:off x="0" y="963168"/>
            <a:ext cx="12192000" cy="24384"/>
          </a:xfrm>
          <a:prstGeom prst="rect">
            <a:avLst/>
          </a:prstGeom>
          <a:solidFill>
            <a:srgbClr val="C0392B"/>
          </a:solidFill>
          <a:ln w="12700">
            <a:solidFill>
              <a:srgbClr val="C0392B"/>
            </a:solidFill>
            <a:prstDash val="solid"/>
          </a:ln>
        </p:spPr>
        <p:txBody>
          <a:bodyPr/>
          <a:lstStyle/>
          <a:p>
            <a:endParaRPr lang="en-US" sz="2400"/>
          </a:p>
        </p:txBody>
      </p:sp>
      <p:sp>
        <p:nvSpPr>
          <p:cNvPr id="5" name="Text 3"/>
          <p:cNvSpPr/>
          <p:nvPr/>
        </p:nvSpPr>
        <p:spPr>
          <a:xfrm>
            <a:off x="512064" y="0"/>
            <a:ext cx="10728960" cy="914400"/>
          </a:xfrm>
          <a:prstGeom prst="rect">
            <a:avLst/>
          </a:prstGeom>
          <a:noFill/>
          <a:ln/>
        </p:spPr>
        <p:txBody>
          <a:bodyPr wrap="square" rtlCol="0" anchor="ctr"/>
          <a:lstStyle/>
          <a:p>
            <a:r>
              <a:rPr lang="en-US" sz="2667" b="1" dirty="0">
                <a:solidFill>
                  <a:srgbClr val="FFFFFF"/>
                </a:solidFill>
                <a:latin typeface="Calibri" pitchFamily="34" charset="0"/>
                <a:ea typeface="Calibri" pitchFamily="34" charset="-122"/>
                <a:cs typeface="Calibri" pitchFamily="34" charset="-120"/>
              </a:rPr>
              <a:t>Knowledge Gaps Identified</a:t>
            </a:r>
            <a:endParaRPr lang="en-US" sz="2667" dirty="0"/>
          </a:p>
        </p:txBody>
      </p:sp>
      <p:sp>
        <p:nvSpPr>
          <p:cNvPr id="6" name="Shape 4"/>
          <p:cNvSpPr/>
          <p:nvPr/>
        </p:nvSpPr>
        <p:spPr>
          <a:xfrm>
            <a:off x="341376" y="1121664"/>
            <a:ext cx="5632704" cy="2377440"/>
          </a:xfrm>
          <a:prstGeom prst="rect">
            <a:avLst/>
          </a:prstGeom>
          <a:solidFill>
            <a:srgbClr val="0E2845"/>
          </a:solidFill>
          <a:ln w="19050">
            <a:solidFill>
              <a:srgbClr val="2B5FA8"/>
            </a:solidFill>
            <a:prstDash val="solid"/>
          </a:ln>
        </p:spPr>
        <p:txBody>
          <a:bodyPr/>
          <a:lstStyle/>
          <a:p>
            <a:endParaRPr lang="en-US" sz="2400"/>
          </a:p>
        </p:txBody>
      </p:sp>
      <p:sp>
        <p:nvSpPr>
          <p:cNvPr id="7" name="Shape 5"/>
          <p:cNvSpPr/>
          <p:nvPr/>
        </p:nvSpPr>
        <p:spPr>
          <a:xfrm>
            <a:off x="341376" y="1121664"/>
            <a:ext cx="755904" cy="2377440"/>
          </a:xfrm>
          <a:prstGeom prst="rect">
            <a:avLst/>
          </a:prstGeom>
          <a:solidFill>
            <a:srgbClr val="2B5FA8"/>
          </a:solidFill>
          <a:ln w="12700">
            <a:solidFill>
              <a:srgbClr val="2B5FA8"/>
            </a:solidFill>
            <a:prstDash val="solid"/>
          </a:ln>
        </p:spPr>
        <p:txBody>
          <a:bodyPr/>
          <a:lstStyle/>
          <a:p>
            <a:endParaRPr lang="en-US" sz="2400"/>
          </a:p>
        </p:txBody>
      </p:sp>
      <p:sp>
        <p:nvSpPr>
          <p:cNvPr id="8" name="Text 6"/>
          <p:cNvSpPr/>
          <p:nvPr/>
        </p:nvSpPr>
        <p:spPr>
          <a:xfrm>
            <a:off x="341376" y="1121664"/>
            <a:ext cx="755904" cy="2377440"/>
          </a:xfrm>
          <a:prstGeom prst="rect">
            <a:avLst/>
          </a:prstGeom>
          <a:noFill/>
          <a:ln/>
        </p:spPr>
        <p:txBody>
          <a:bodyPr wrap="square" lIns="0" tIns="0" rIns="0" bIns="0" rtlCol="0" anchor="ctr"/>
          <a:lstStyle/>
          <a:p>
            <a:pPr algn="ctr"/>
            <a:r>
              <a:rPr lang="en-US" sz="2000" b="1" dirty="0">
                <a:solidFill>
                  <a:srgbClr val="FFFFFF"/>
                </a:solidFill>
              </a:rPr>
              <a:t>G1</a:t>
            </a:r>
            <a:endParaRPr lang="en-US" sz="2000" dirty="0"/>
          </a:p>
        </p:txBody>
      </p:sp>
      <p:sp>
        <p:nvSpPr>
          <p:cNvPr id="9" name="Text 7"/>
          <p:cNvSpPr/>
          <p:nvPr/>
        </p:nvSpPr>
        <p:spPr>
          <a:xfrm>
            <a:off x="1194816" y="1341120"/>
            <a:ext cx="4779264" cy="512064"/>
          </a:xfrm>
          <a:prstGeom prst="rect">
            <a:avLst/>
          </a:prstGeom>
          <a:noFill/>
          <a:ln/>
        </p:spPr>
        <p:txBody>
          <a:bodyPr wrap="square" rtlCol="0" anchor="ctr"/>
          <a:lstStyle/>
          <a:p>
            <a:r>
              <a:rPr lang="en-US" sz="2500" b="1" dirty="0">
                <a:latin typeface="Calibri" pitchFamily="34" charset="0"/>
                <a:ea typeface="Calibri" pitchFamily="34" charset="-122"/>
                <a:cs typeface="Calibri" pitchFamily="34" charset="-120"/>
              </a:rPr>
              <a:t>No Integrative Digital Framework</a:t>
            </a:r>
            <a:endParaRPr lang="en-US" sz="2500" dirty="0"/>
          </a:p>
        </p:txBody>
      </p:sp>
      <p:sp>
        <p:nvSpPr>
          <p:cNvPr id="10" name="Text 8"/>
          <p:cNvSpPr/>
          <p:nvPr/>
        </p:nvSpPr>
        <p:spPr>
          <a:xfrm>
            <a:off x="1194816" y="1877568"/>
            <a:ext cx="4657344" cy="1438656"/>
          </a:xfrm>
          <a:prstGeom prst="rect">
            <a:avLst/>
          </a:prstGeom>
          <a:noFill/>
          <a:ln/>
        </p:spPr>
        <p:txBody>
          <a:bodyPr wrap="square" rtlCol="0" anchor="t"/>
          <a:lstStyle/>
          <a:p>
            <a:r>
              <a:rPr lang="en-US" dirty="0">
                <a:solidFill>
                  <a:srgbClr val="C5CFE0"/>
                </a:solidFill>
                <a:latin typeface="Calibri" pitchFamily="34" charset="0"/>
                <a:ea typeface="Calibri" pitchFamily="34" charset="-122"/>
                <a:cs typeface="Calibri" pitchFamily="34" charset="-120"/>
              </a:rPr>
              <a:t>No </a:t>
            </a:r>
            <a:r>
              <a:rPr lang="en-US" dirty="0" err="1">
                <a:latin typeface="Calibri" pitchFamily="34" charset="0"/>
                <a:ea typeface="Calibri" pitchFamily="34" charset="-122"/>
                <a:cs typeface="Calibri" pitchFamily="34" charset="-120"/>
              </a:rPr>
              <a:t>Intergral</a:t>
            </a:r>
            <a:r>
              <a:rPr lang="en-US" b="1" dirty="0">
                <a:latin typeface="Calibri" pitchFamily="34" charset="0"/>
                <a:ea typeface="Calibri" pitchFamily="34" charset="-122"/>
                <a:cs typeface="Calibri" pitchFamily="34" charset="-120"/>
              </a:rPr>
              <a:t>  </a:t>
            </a:r>
            <a:r>
              <a:rPr lang="en-US" dirty="0">
                <a:solidFill>
                  <a:srgbClr val="C5CFE0"/>
                </a:solidFill>
                <a:latin typeface="Calibri" pitchFamily="34" charset="0"/>
                <a:ea typeface="Calibri" pitchFamily="34" charset="-122"/>
                <a:cs typeface="Calibri" pitchFamily="34" charset="-120"/>
              </a:rPr>
              <a:t>theoretical framework linking AI/ML tools to food security outcomes exists literature</a:t>
            </a:r>
            <a:endParaRPr lang="en-US" dirty="0"/>
          </a:p>
        </p:txBody>
      </p:sp>
      <p:sp>
        <p:nvSpPr>
          <p:cNvPr id="11" name="Shape 9"/>
          <p:cNvSpPr/>
          <p:nvPr/>
        </p:nvSpPr>
        <p:spPr>
          <a:xfrm>
            <a:off x="341376" y="3706368"/>
            <a:ext cx="5632704" cy="2377440"/>
          </a:xfrm>
          <a:prstGeom prst="rect">
            <a:avLst/>
          </a:prstGeom>
          <a:solidFill>
            <a:srgbClr val="0E2845"/>
          </a:solidFill>
          <a:ln w="19050">
            <a:solidFill>
              <a:srgbClr val="1A7AB5"/>
            </a:solidFill>
            <a:prstDash val="solid"/>
          </a:ln>
        </p:spPr>
        <p:txBody>
          <a:bodyPr/>
          <a:lstStyle/>
          <a:p>
            <a:endParaRPr lang="en-US" sz="2400"/>
          </a:p>
        </p:txBody>
      </p:sp>
      <p:sp>
        <p:nvSpPr>
          <p:cNvPr id="12" name="Shape 10"/>
          <p:cNvSpPr/>
          <p:nvPr/>
        </p:nvSpPr>
        <p:spPr>
          <a:xfrm>
            <a:off x="341376" y="3706368"/>
            <a:ext cx="755904" cy="2377440"/>
          </a:xfrm>
          <a:prstGeom prst="rect">
            <a:avLst/>
          </a:prstGeom>
          <a:solidFill>
            <a:srgbClr val="1A7AB5"/>
          </a:solidFill>
          <a:ln w="12700">
            <a:solidFill>
              <a:srgbClr val="1A7AB5"/>
            </a:solidFill>
            <a:prstDash val="solid"/>
          </a:ln>
        </p:spPr>
        <p:txBody>
          <a:bodyPr/>
          <a:lstStyle/>
          <a:p>
            <a:endParaRPr lang="en-US" sz="2400"/>
          </a:p>
        </p:txBody>
      </p:sp>
      <p:sp>
        <p:nvSpPr>
          <p:cNvPr id="13" name="Text 11"/>
          <p:cNvSpPr/>
          <p:nvPr/>
        </p:nvSpPr>
        <p:spPr>
          <a:xfrm>
            <a:off x="341376" y="3706368"/>
            <a:ext cx="755904" cy="2377440"/>
          </a:xfrm>
          <a:prstGeom prst="rect">
            <a:avLst/>
          </a:prstGeom>
          <a:noFill/>
          <a:ln/>
        </p:spPr>
        <p:txBody>
          <a:bodyPr wrap="square" lIns="0" tIns="0" rIns="0" bIns="0" rtlCol="0" anchor="ctr"/>
          <a:lstStyle/>
          <a:p>
            <a:pPr algn="ctr"/>
            <a:r>
              <a:rPr lang="en-US" sz="2000" b="1" dirty="0">
                <a:solidFill>
                  <a:srgbClr val="FFFFFF"/>
                </a:solidFill>
              </a:rPr>
              <a:t>G2</a:t>
            </a:r>
            <a:endParaRPr lang="en-US" sz="2000" dirty="0"/>
          </a:p>
        </p:txBody>
      </p:sp>
      <p:sp>
        <p:nvSpPr>
          <p:cNvPr id="14" name="Text 12"/>
          <p:cNvSpPr/>
          <p:nvPr/>
        </p:nvSpPr>
        <p:spPr>
          <a:xfrm>
            <a:off x="1194816" y="3925824"/>
            <a:ext cx="4632960" cy="512064"/>
          </a:xfrm>
          <a:prstGeom prst="rect">
            <a:avLst/>
          </a:prstGeom>
          <a:noFill/>
          <a:ln/>
        </p:spPr>
        <p:txBody>
          <a:bodyPr wrap="square" rtlCol="0" anchor="ctr"/>
          <a:lstStyle/>
          <a:p>
            <a:r>
              <a:rPr lang="en-US" sz="2800" b="1" dirty="0">
                <a:latin typeface="Calibri" pitchFamily="34" charset="0"/>
                <a:ea typeface="Calibri" pitchFamily="34" charset="-122"/>
                <a:cs typeface="Calibri" pitchFamily="34" charset="-120"/>
              </a:rPr>
              <a:t>Thematic Instability</a:t>
            </a:r>
            <a:endParaRPr lang="en-US" sz="2800" dirty="0"/>
          </a:p>
        </p:txBody>
      </p:sp>
      <p:sp>
        <p:nvSpPr>
          <p:cNvPr id="15" name="Text 13"/>
          <p:cNvSpPr/>
          <p:nvPr/>
        </p:nvSpPr>
        <p:spPr>
          <a:xfrm>
            <a:off x="1194816" y="4462272"/>
            <a:ext cx="4657344" cy="1438656"/>
          </a:xfrm>
          <a:prstGeom prst="rect">
            <a:avLst/>
          </a:prstGeom>
          <a:noFill/>
          <a:ln/>
        </p:spPr>
        <p:txBody>
          <a:bodyPr wrap="square" rtlCol="0" anchor="t"/>
          <a:lstStyle/>
          <a:p>
            <a:r>
              <a:rPr lang="en-US" dirty="0">
                <a:solidFill>
                  <a:srgbClr val="C5CFE0"/>
                </a:solidFill>
                <a:latin typeface="Calibri" pitchFamily="34" charset="0"/>
                <a:ea typeface="Calibri" pitchFamily="34" charset="-122"/>
                <a:cs typeface="Calibri" pitchFamily="34" charset="-120"/>
              </a:rPr>
              <a:t>Climate variability &amp; food supply chain resilience remain fragmented across disciplines and regions</a:t>
            </a:r>
            <a:endParaRPr lang="en-US" dirty="0"/>
          </a:p>
        </p:txBody>
      </p:sp>
      <p:sp>
        <p:nvSpPr>
          <p:cNvPr id="16" name="Shape 14"/>
          <p:cNvSpPr/>
          <p:nvPr/>
        </p:nvSpPr>
        <p:spPr>
          <a:xfrm>
            <a:off x="6291072" y="1121664"/>
            <a:ext cx="5632704" cy="2377440"/>
          </a:xfrm>
          <a:prstGeom prst="rect">
            <a:avLst/>
          </a:prstGeom>
          <a:solidFill>
            <a:srgbClr val="0E2845"/>
          </a:solidFill>
          <a:ln w="19050">
            <a:solidFill>
              <a:srgbClr val="C0392B"/>
            </a:solidFill>
            <a:prstDash val="solid"/>
          </a:ln>
        </p:spPr>
        <p:txBody>
          <a:bodyPr/>
          <a:lstStyle/>
          <a:p>
            <a:endParaRPr lang="en-US" sz="2400"/>
          </a:p>
        </p:txBody>
      </p:sp>
      <p:sp>
        <p:nvSpPr>
          <p:cNvPr id="17" name="Shape 15"/>
          <p:cNvSpPr/>
          <p:nvPr/>
        </p:nvSpPr>
        <p:spPr>
          <a:xfrm>
            <a:off x="6291072" y="1121664"/>
            <a:ext cx="755904" cy="2377440"/>
          </a:xfrm>
          <a:prstGeom prst="rect">
            <a:avLst/>
          </a:prstGeom>
          <a:solidFill>
            <a:srgbClr val="C0392B"/>
          </a:solidFill>
          <a:ln w="12700">
            <a:solidFill>
              <a:srgbClr val="C0392B"/>
            </a:solidFill>
            <a:prstDash val="solid"/>
          </a:ln>
        </p:spPr>
        <p:txBody>
          <a:bodyPr/>
          <a:lstStyle/>
          <a:p>
            <a:endParaRPr lang="en-US" sz="2400"/>
          </a:p>
        </p:txBody>
      </p:sp>
      <p:sp>
        <p:nvSpPr>
          <p:cNvPr id="18" name="Text 16"/>
          <p:cNvSpPr/>
          <p:nvPr/>
        </p:nvSpPr>
        <p:spPr>
          <a:xfrm>
            <a:off x="6291072" y="1121664"/>
            <a:ext cx="755904" cy="2377440"/>
          </a:xfrm>
          <a:prstGeom prst="rect">
            <a:avLst/>
          </a:prstGeom>
          <a:noFill/>
          <a:ln/>
        </p:spPr>
        <p:txBody>
          <a:bodyPr wrap="square" lIns="0" tIns="0" rIns="0" bIns="0" rtlCol="0" anchor="ctr"/>
          <a:lstStyle/>
          <a:p>
            <a:pPr algn="ctr"/>
            <a:r>
              <a:rPr lang="en-US" sz="2000" b="1" dirty="0">
                <a:solidFill>
                  <a:srgbClr val="FFFFFF"/>
                </a:solidFill>
              </a:rPr>
              <a:t>G3</a:t>
            </a:r>
            <a:endParaRPr lang="en-US" sz="2000" dirty="0"/>
          </a:p>
        </p:txBody>
      </p:sp>
      <p:sp>
        <p:nvSpPr>
          <p:cNvPr id="19" name="Text 17"/>
          <p:cNvSpPr/>
          <p:nvPr/>
        </p:nvSpPr>
        <p:spPr>
          <a:xfrm>
            <a:off x="7144512" y="1341120"/>
            <a:ext cx="4632960" cy="512064"/>
          </a:xfrm>
          <a:prstGeom prst="rect">
            <a:avLst/>
          </a:prstGeom>
          <a:noFill/>
          <a:ln/>
        </p:spPr>
        <p:txBody>
          <a:bodyPr wrap="square" rtlCol="0" anchor="ctr"/>
          <a:lstStyle/>
          <a:p>
            <a:r>
              <a:rPr lang="en-US" sz="2800" b="1" dirty="0">
                <a:solidFill>
                  <a:srgbClr val="C0392B"/>
                </a:solidFill>
                <a:latin typeface="Calibri" pitchFamily="34" charset="0"/>
                <a:ea typeface="Calibri" pitchFamily="34" charset="-122"/>
                <a:cs typeface="Calibri" pitchFamily="34" charset="-120"/>
              </a:rPr>
              <a:t>Geographical Exclusion</a:t>
            </a:r>
            <a:endParaRPr lang="en-US" sz="2800" dirty="0"/>
          </a:p>
        </p:txBody>
      </p:sp>
      <p:sp>
        <p:nvSpPr>
          <p:cNvPr id="20" name="Text 18"/>
          <p:cNvSpPr/>
          <p:nvPr/>
        </p:nvSpPr>
        <p:spPr>
          <a:xfrm>
            <a:off x="7144512" y="1877568"/>
            <a:ext cx="4657344" cy="1438656"/>
          </a:xfrm>
          <a:prstGeom prst="rect">
            <a:avLst/>
          </a:prstGeom>
          <a:noFill/>
          <a:ln/>
        </p:spPr>
        <p:txBody>
          <a:bodyPr wrap="square" rtlCol="0" anchor="t"/>
          <a:lstStyle/>
          <a:p>
            <a:r>
              <a:rPr lang="en-US" dirty="0">
                <a:solidFill>
                  <a:srgbClr val="C5CFE0"/>
                </a:solidFill>
                <a:latin typeface="Calibri" pitchFamily="34" charset="0"/>
                <a:ea typeface="Calibri" pitchFamily="34" charset="-122"/>
                <a:cs typeface="Calibri" pitchFamily="34" charset="-120"/>
              </a:rPr>
              <a:t>Sub-Saharan Africa, South Asia &amp; Latin America are at the periphery despite facing the most acute nexus pressures</a:t>
            </a:r>
            <a:endParaRPr lang="en-US" dirty="0"/>
          </a:p>
        </p:txBody>
      </p:sp>
      <p:sp>
        <p:nvSpPr>
          <p:cNvPr id="21" name="Shape 19"/>
          <p:cNvSpPr/>
          <p:nvPr/>
        </p:nvSpPr>
        <p:spPr>
          <a:xfrm>
            <a:off x="6291072" y="3706368"/>
            <a:ext cx="5632704" cy="2377440"/>
          </a:xfrm>
          <a:prstGeom prst="rect">
            <a:avLst/>
          </a:prstGeom>
          <a:solidFill>
            <a:srgbClr val="0E2845"/>
          </a:solidFill>
          <a:ln w="19050">
            <a:solidFill>
              <a:srgbClr val="E8B400"/>
            </a:solidFill>
            <a:prstDash val="solid"/>
          </a:ln>
        </p:spPr>
        <p:txBody>
          <a:bodyPr/>
          <a:lstStyle/>
          <a:p>
            <a:endParaRPr lang="en-US" sz="2400"/>
          </a:p>
        </p:txBody>
      </p:sp>
      <p:sp>
        <p:nvSpPr>
          <p:cNvPr id="22" name="Shape 20"/>
          <p:cNvSpPr/>
          <p:nvPr/>
        </p:nvSpPr>
        <p:spPr>
          <a:xfrm>
            <a:off x="6291072" y="3706368"/>
            <a:ext cx="755904" cy="2377440"/>
          </a:xfrm>
          <a:prstGeom prst="rect">
            <a:avLst/>
          </a:prstGeom>
          <a:solidFill>
            <a:srgbClr val="E8B400"/>
          </a:solidFill>
          <a:ln w="12700">
            <a:solidFill>
              <a:srgbClr val="E8B400"/>
            </a:solidFill>
            <a:prstDash val="solid"/>
          </a:ln>
        </p:spPr>
        <p:txBody>
          <a:bodyPr/>
          <a:lstStyle/>
          <a:p>
            <a:endParaRPr lang="en-US" sz="2400"/>
          </a:p>
        </p:txBody>
      </p:sp>
      <p:sp>
        <p:nvSpPr>
          <p:cNvPr id="23" name="Text 21"/>
          <p:cNvSpPr/>
          <p:nvPr/>
        </p:nvSpPr>
        <p:spPr>
          <a:xfrm>
            <a:off x="6291072" y="3706368"/>
            <a:ext cx="755904" cy="2377440"/>
          </a:xfrm>
          <a:prstGeom prst="rect">
            <a:avLst/>
          </a:prstGeom>
          <a:noFill/>
          <a:ln/>
        </p:spPr>
        <p:txBody>
          <a:bodyPr wrap="square" lIns="0" tIns="0" rIns="0" bIns="0" rtlCol="0" anchor="ctr"/>
          <a:lstStyle/>
          <a:p>
            <a:pPr algn="ctr"/>
            <a:r>
              <a:rPr lang="en-US" sz="2000" b="1" dirty="0">
                <a:solidFill>
                  <a:srgbClr val="122952"/>
                </a:solidFill>
              </a:rPr>
              <a:t>G4</a:t>
            </a:r>
            <a:endParaRPr lang="en-US" sz="2000" dirty="0"/>
          </a:p>
        </p:txBody>
      </p:sp>
      <p:sp>
        <p:nvSpPr>
          <p:cNvPr id="24" name="Text 22"/>
          <p:cNvSpPr/>
          <p:nvPr/>
        </p:nvSpPr>
        <p:spPr>
          <a:xfrm>
            <a:off x="7144512" y="3925824"/>
            <a:ext cx="4632960" cy="512064"/>
          </a:xfrm>
          <a:prstGeom prst="rect">
            <a:avLst/>
          </a:prstGeom>
          <a:noFill/>
          <a:ln/>
        </p:spPr>
        <p:txBody>
          <a:bodyPr wrap="square" rtlCol="0" anchor="ctr"/>
          <a:lstStyle/>
          <a:p>
            <a:r>
              <a:rPr lang="en-US" sz="2800" b="1" dirty="0">
                <a:solidFill>
                  <a:srgbClr val="E8B400"/>
                </a:solidFill>
                <a:latin typeface="Calibri" pitchFamily="34" charset="0"/>
                <a:ea typeface="Calibri" pitchFamily="34" charset="-122"/>
                <a:cs typeface="Calibri" pitchFamily="34" charset="-120"/>
              </a:rPr>
              <a:t>Volume–Impact Imbalance</a:t>
            </a:r>
            <a:endParaRPr lang="en-US" sz="2800" dirty="0"/>
          </a:p>
        </p:txBody>
      </p:sp>
      <p:sp>
        <p:nvSpPr>
          <p:cNvPr id="25" name="Text 23"/>
          <p:cNvSpPr/>
          <p:nvPr/>
        </p:nvSpPr>
        <p:spPr>
          <a:xfrm>
            <a:off x="7144512" y="4462272"/>
            <a:ext cx="4657344" cy="1438656"/>
          </a:xfrm>
          <a:prstGeom prst="rect">
            <a:avLst/>
          </a:prstGeom>
          <a:noFill/>
          <a:ln/>
        </p:spPr>
        <p:txBody>
          <a:bodyPr wrap="square" rtlCol="0" anchor="t"/>
          <a:lstStyle/>
          <a:p>
            <a:r>
              <a:rPr lang="en-US" dirty="0">
                <a:solidFill>
                  <a:srgbClr val="C5CFE0"/>
                </a:solidFill>
                <a:latin typeface="Calibri" pitchFamily="34" charset="0"/>
                <a:ea typeface="Calibri" pitchFamily="34" charset="-122"/>
                <a:cs typeface="Calibri" pitchFamily="34" charset="-120"/>
              </a:rPr>
              <a:t>India &amp; China lead in publication output but lag in citations: structural barriers limit global reach</a:t>
            </a:r>
            <a:endParaRPr lang="en-US" dirty="0"/>
          </a:p>
        </p:txBody>
      </p:sp>
      <p:sp>
        <p:nvSpPr>
          <p:cNvPr id="26" name="Shape 24"/>
          <p:cNvSpPr/>
          <p:nvPr/>
        </p:nvSpPr>
        <p:spPr>
          <a:xfrm>
            <a:off x="0" y="6620256"/>
            <a:ext cx="12192000" cy="24384"/>
          </a:xfrm>
          <a:prstGeom prst="rect">
            <a:avLst/>
          </a:prstGeom>
          <a:solidFill>
            <a:srgbClr val="E8B400"/>
          </a:solidFill>
          <a:ln w="12700">
            <a:solidFill>
              <a:srgbClr val="E8B400"/>
            </a:solidFill>
            <a:prstDash val="solid"/>
          </a:ln>
        </p:spPr>
        <p:txBody>
          <a:bodyPr/>
          <a:lstStyle/>
          <a:p>
            <a:endParaRPr lang="en-US" sz="2400"/>
          </a:p>
        </p:txBody>
      </p:sp>
      <p:sp>
        <p:nvSpPr>
          <p:cNvPr id="27" name="Shape 25"/>
          <p:cNvSpPr/>
          <p:nvPr/>
        </p:nvSpPr>
        <p:spPr>
          <a:xfrm>
            <a:off x="0" y="6644640"/>
            <a:ext cx="12192000" cy="213360"/>
          </a:xfrm>
          <a:prstGeom prst="rect">
            <a:avLst/>
          </a:prstGeom>
          <a:solidFill>
            <a:srgbClr val="122952"/>
          </a:solidFill>
          <a:ln w="12700">
            <a:solidFill>
              <a:srgbClr val="122952"/>
            </a:solidFill>
            <a:prstDash val="solid"/>
          </a:ln>
        </p:spPr>
        <p:txBody>
          <a:bodyPr/>
          <a:lstStyle/>
          <a:p>
            <a:endParaRPr lang="en-US" sz="2400"/>
          </a:p>
        </p:txBody>
      </p:sp>
      <p:sp>
        <p:nvSpPr>
          <p:cNvPr id="28" name="Text 26"/>
          <p:cNvSpPr/>
          <p:nvPr/>
        </p:nvSpPr>
        <p:spPr>
          <a:xfrm>
            <a:off x="0" y="6644640"/>
            <a:ext cx="12192000" cy="213360"/>
          </a:xfrm>
          <a:prstGeom prst="rect">
            <a:avLst/>
          </a:prstGeom>
          <a:noFill/>
          <a:ln/>
        </p:spPr>
        <p:txBody>
          <a:bodyPr wrap="square" rtlCol="0" anchor="ctr"/>
          <a:lstStyle/>
          <a:p>
            <a:pPr algn="ctr"/>
            <a:r>
              <a:rPr lang="en-US" sz="1067" dirty="0">
                <a:solidFill>
                  <a:srgbClr val="C5CFE0"/>
                </a:solidFill>
              </a:rPr>
              <a:t>University of Cape Coast  •  Veritas Nobis Lumen  |  Truth, Our Guide</a:t>
            </a:r>
            <a:endParaRPr lang="en-US" sz="106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22952"/>
          </a:solidFill>
          <a:ln w="12700">
            <a:solidFill>
              <a:srgbClr val="122952"/>
            </a:solidFill>
            <a:prstDash val="solid"/>
          </a:ln>
        </p:spPr>
        <p:txBody>
          <a:bodyPr/>
          <a:lstStyle/>
          <a:p>
            <a:endParaRPr lang="en-US" sz="2400"/>
          </a:p>
        </p:txBody>
      </p:sp>
      <p:sp>
        <p:nvSpPr>
          <p:cNvPr id="3" name="Shape 1"/>
          <p:cNvSpPr/>
          <p:nvPr/>
        </p:nvSpPr>
        <p:spPr>
          <a:xfrm>
            <a:off x="0" y="914400"/>
            <a:ext cx="12192000" cy="48768"/>
          </a:xfrm>
          <a:prstGeom prst="rect">
            <a:avLst/>
          </a:prstGeom>
          <a:solidFill>
            <a:srgbClr val="E8B400"/>
          </a:solidFill>
          <a:ln w="12700">
            <a:solidFill>
              <a:srgbClr val="E8B400"/>
            </a:solidFill>
            <a:prstDash val="solid"/>
          </a:ln>
        </p:spPr>
        <p:txBody>
          <a:bodyPr/>
          <a:lstStyle/>
          <a:p>
            <a:endParaRPr lang="en-US" sz="2400"/>
          </a:p>
        </p:txBody>
      </p:sp>
      <p:sp>
        <p:nvSpPr>
          <p:cNvPr id="4" name="Shape 2"/>
          <p:cNvSpPr/>
          <p:nvPr/>
        </p:nvSpPr>
        <p:spPr>
          <a:xfrm>
            <a:off x="0" y="963168"/>
            <a:ext cx="12192000" cy="24384"/>
          </a:xfrm>
          <a:prstGeom prst="rect">
            <a:avLst/>
          </a:prstGeom>
          <a:solidFill>
            <a:srgbClr val="C0392B"/>
          </a:solidFill>
          <a:ln w="12700">
            <a:solidFill>
              <a:srgbClr val="C0392B"/>
            </a:solidFill>
            <a:prstDash val="solid"/>
          </a:ln>
        </p:spPr>
        <p:txBody>
          <a:bodyPr/>
          <a:lstStyle/>
          <a:p>
            <a:endParaRPr lang="en-US" sz="2400"/>
          </a:p>
        </p:txBody>
      </p:sp>
      <p:sp>
        <p:nvSpPr>
          <p:cNvPr id="5" name="Text 3"/>
          <p:cNvSpPr/>
          <p:nvPr/>
        </p:nvSpPr>
        <p:spPr>
          <a:xfrm>
            <a:off x="512064" y="0"/>
            <a:ext cx="10728960" cy="914400"/>
          </a:xfrm>
          <a:prstGeom prst="rect">
            <a:avLst/>
          </a:prstGeom>
          <a:noFill/>
          <a:ln/>
        </p:spPr>
        <p:txBody>
          <a:bodyPr wrap="square" rtlCol="0" anchor="ctr"/>
          <a:lstStyle/>
          <a:p>
            <a:r>
              <a:rPr lang="en-US" sz="2667" b="1" dirty="0">
                <a:solidFill>
                  <a:srgbClr val="FFFFFF"/>
                </a:solidFill>
                <a:latin typeface="Calibri" pitchFamily="34" charset="0"/>
                <a:ea typeface="Calibri" pitchFamily="34" charset="-122"/>
                <a:cs typeface="Calibri" pitchFamily="34" charset="-120"/>
              </a:rPr>
              <a:t>Stakeholder-Specific Recommendations  ←  Evidence from Findings</a:t>
            </a:r>
            <a:endParaRPr lang="en-US" sz="2667" dirty="0"/>
          </a:p>
        </p:txBody>
      </p:sp>
      <p:sp>
        <p:nvSpPr>
          <p:cNvPr id="6" name="Shape 4"/>
          <p:cNvSpPr/>
          <p:nvPr/>
        </p:nvSpPr>
        <p:spPr>
          <a:xfrm>
            <a:off x="268224" y="999499"/>
            <a:ext cx="3023616" cy="329184"/>
          </a:xfrm>
          <a:prstGeom prst="rect">
            <a:avLst/>
          </a:prstGeom>
          <a:solidFill>
            <a:srgbClr val="122952"/>
          </a:solidFill>
          <a:ln w="12700">
            <a:solidFill>
              <a:srgbClr val="122952"/>
            </a:solidFill>
            <a:prstDash val="solid"/>
          </a:ln>
        </p:spPr>
        <p:txBody>
          <a:bodyPr/>
          <a:lstStyle/>
          <a:p>
            <a:endParaRPr lang="en-US" sz="3200"/>
          </a:p>
        </p:txBody>
      </p:sp>
      <p:sp>
        <p:nvSpPr>
          <p:cNvPr id="7" name="Text 5"/>
          <p:cNvSpPr/>
          <p:nvPr/>
        </p:nvSpPr>
        <p:spPr>
          <a:xfrm>
            <a:off x="268224" y="1024128"/>
            <a:ext cx="3023616" cy="329184"/>
          </a:xfrm>
          <a:prstGeom prst="rect">
            <a:avLst/>
          </a:prstGeom>
          <a:noFill/>
          <a:ln/>
        </p:spPr>
        <p:txBody>
          <a:bodyPr wrap="square" lIns="0" tIns="0" rIns="0" bIns="0" rtlCol="0" anchor="ctr"/>
          <a:lstStyle/>
          <a:p>
            <a:pPr algn="ctr"/>
            <a:r>
              <a:rPr lang="en-US" sz="1000" b="1" kern="0" spc="200" dirty="0">
                <a:solidFill>
                  <a:srgbClr val="E8B400"/>
                </a:solidFill>
              </a:rPr>
              <a:t>STAKEHOLDER</a:t>
            </a:r>
            <a:endParaRPr lang="en-US" sz="1000" dirty="0"/>
          </a:p>
        </p:txBody>
      </p:sp>
      <p:sp>
        <p:nvSpPr>
          <p:cNvPr id="8" name="Text 6"/>
          <p:cNvSpPr/>
          <p:nvPr/>
        </p:nvSpPr>
        <p:spPr>
          <a:xfrm>
            <a:off x="3328416" y="1024128"/>
            <a:ext cx="268224" cy="329184"/>
          </a:xfrm>
          <a:prstGeom prst="rect">
            <a:avLst/>
          </a:prstGeom>
          <a:noFill/>
          <a:ln/>
        </p:spPr>
        <p:txBody>
          <a:bodyPr wrap="square" rtlCol="0" anchor="ctr"/>
          <a:lstStyle/>
          <a:p>
            <a:pPr algn="ctr"/>
            <a:r>
              <a:rPr lang="en-US" sz="1467" dirty="0">
                <a:solidFill>
                  <a:srgbClr val="E8B400"/>
                </a:solidFill>
              </a:rPr>
              <a:t>→</a:t>
            </a:r>
            <a:endParaRPr lang="en-US" sz="1467" dirty="0"/>
          </a:p>
        </p:txBody>
      </p:sp>
      <p:sp>
        <p:nvSpPr>
          <p:cNvPr id="9" name="Shape 7"/>
          <p:cNvSpPr/>
          <p:nvPr/>
        </p:nvSpPr>
        <p:spPr>
          <a:xfrm>
            <a:off x="3608832" y="999499"/>
            <a:ext cx="4206240" cy="329184"/>
          </a:xfrm>
          <a:prstGeom prst="rect">
            <a:avLst/>
          </a:prstGeom>
          <a:solidFill>
            <a:srgbClr val="122952"/>
          </a:solidFill>
          <a:ln w="12700">
            <a:solidFill>
              <a:srgbClr val="122952"/>
            </a:solidFill>
            <a:prstDash val="solid"/>
          </a:ln>
        </p:spPr>
        <p:txBody>
          <a:bodyPr/>
          <a:lstStyle/>
          <a:p>
            <a:endParaRPr lang="en-US" sz="3200"/>
          </a:p>
        </p:txBody>
      </p:sp>
      <p:sp>
        <p:nvSpPr>
          <p:cNvPr id="10" name="Text 8"/>
          <p:cNvSpPr/>
          <p:nvPr/>
        </p:nvSpPr>
        <p:spPr>
          <a:xfrm>
            <a:off x="3608832" y="1024128"/>
            <a:ext cx="4206240" cy="329184"/>
          </a:xfrm>
          <a:prstGeom prst="rect">
            <a:avLst/>
          </a:prstGeom>
          <a:noFill/>
          <a:ln/>
        </p:spPr>
        <p:txBody>
          <a:bodyPr wrap="square" lIns="0" tIns="0" rIns="0" bIns="0" rtlCol="0" anchor="ctr"/>
          <a:lstStyle/>
          <a:p>
            <a:pPr algn="ctr"/>
            <a:r>
              <a:rPr lang="en-US" sz="1000" b="1" kern="0" spc="200" dirty="0">
                <a:solidFill>
                  <a:srgbClr val="E8B400"/>
                </a:solidFill>
              </a:rPr>
              <a:t>RECOMMENDATION</a:t>
            </a:r>
            <a:endParaRPr lang="en-US" sz="1000" dirty="0"/>
          </a:p>
        </p:txBody>
      </p:sp>
      <p:sp>
        <p:nvSpPr>
          <p:cNvPr id="11" name="Text 9"/>
          <p:cNvSpPr/>
          <p:nvPr/>
        </p:nvSpPr>
        <p:spPr>
          <a:xfrm>
            <a:off x="7851648" y="1024128"/>
            <a:ext cx="292608" cy="329184"/>
          </a:xfrm>
          <a:prstGeom prst="rect">
            <a:avLst/>
          </a:prstGeom>
          <a:noFill/>
          <a:ln/>
        </p:spPr>
        <p:txBody>
          <a:bodyPr wrap="square" rtlCol="0" anchor="ctr"/>
          <a:lstStyle/>
          <a:p>
            <a:pPr algn="ctr"/>
            <a:r>
              <a:rPr lang="en-US" sz="1467" dirty="0">
                <a:solidFill>
                  <a:srgbClr val="E8B400"/>
                </a:solidFill>
              </a:rPr>
              <a:t>←</a:t>
            </a:r>
            <a:endParaRPr lang="en-US" sz="1467" dirty="0"/>
          </a:p>
        </p:txBody>
      </p:sp>
      <p:sp>
        <p:nvSpPr>
          <p:cNvPr id="12" name="Shape 10"/>
          <p:cNvSpPr/>
          <p:nvPr/>
        </p:nvSpPr>
        <p:spPr>
          <a:xfrm>
            <a:off x="8168640" y="999499"/>
            <a:ext cx="3755136" cy="329184"/>
          </a:xfrm>
          <a:prstGeom prst="rect">
            <a:avLst/>
          </a:prstGeom>
          <a:solidFill>
            <a:srgbClr val="122952"/>
          </a:solidFill>
          <a:ln w="12700">
            <a:solidFill>
              <a:srgbClr val="122952"/>
            </a:solidFill>
            <a:prstDash val="solid"/>
          </a:ln>
        </p:spPr>
        <p:txBody>
          <a:bodyPr/>
          <a:lstStyle/>
          <a:p>
            <a:endParaRPr lang="en-US" sz="3200"/>
          </a:p>
        </p:txBody>
      </p:sp>
      <p:sp>
        <p:nvSpPr>
          <p:cNvPr id="13" name="Text 11"/>
          <p:cNvSpPr/>
          <p:nvPr/>
        </p:nvSpPr>
        <p:spPr>
          <a:xfrm>
            <a:off x="8168640" y="1024128"/>
            <a:ext cx="3755136" cy="329184"/>
          </a:xfrm>
          <a:prstGeom prst="rect">
            <a:avLst/>
          </a:prstGeom>
          <a:noFill/>
          <a:ln/>
        </p:spPr>
        <p:txBody>
          <a:bodyPr wrap="square" lIns="0" tIns="0" rIns="0" bIns="0" rtlCol="0" anchor="ctr"/>
          <a:lstStyle/>
          <a:p>
            <a:pPr algn="ctr"/>
            <a:r>
              <a:rPr lang="en-US" sz="1000" b="1" kern="0" spc="200" dirty="0">
                <a:solidFill>
                  <a:srgbClr val="E8B400"/>
                </a:solidFill>
              </a:rPr>
              <a:t>EVIDENCE FROM YOUR FINDINGS</a:t>
            </a:r>
            <a:endParaRPr lang="en-US" sz="1000" dirty="0"/>
          </a:p>
        </p:txBody>
      </p:sp>
      <p:sp>
        <p:nvSpPr>
          <p:cNvPr id="14" name="Shape 12"/>
          <p:cNvSpPr/>
          <p:nvPr/>
        </p:nvSpPr>
        <p:spPr>
          <a:xfrm>
            <a:off x="268224" y="1389889"/>
            <a:ext cx="11655552" cy="985113"/>
          </a:xfrm>
          <a:prstGeom prst="rect">
            <a:avLst/>
          </a:prstGeom>
          <a:solidFill>
            <a:srgbClr val="FFFFFF"/>
          </a:solidFill>
          <a:ln w="6350">
            <a:solidFill>
              <a:srgbClr val="C5CFE0"/>
            </a:solidFill>
            <a:prstDash val="solid"/>
          </a:ln>
        </p:spPr>
        <p:txBody>
          <a:bodyPr/>
          <a:lstStyle/>
          <a:p>
            <a:endParaRPr lang="en-US" sz="2400"/>
          </a:p>
        </p:txBody>
      </p:sp>
      <p:sp>
        <p:nvSpPr>
          <p:cNvPr id="15" name="Shape 13"/>
          <p:cNvSpPr/>
          <p:nvPr/>
        </p:nvSpPr>
        <p:spPr>
          <a:xfrm>
            <a:off x="268224" y="1389889"/>
            <a:ext cx="463296" cy="985113"/>
          </a:xfrm>
          <a:prstGeom prst="rect">
            <a:avLst/>
          </a:prstGeom>
          <a:solidFill>
            <a:srgbClr val="C0392B"/>
          </a:solidFill>
          <a:ln w="12700">
            <a:solidFill>
              <a:srgbClr val="C0392B"/>
            </a:solidFill>
            <a:prstDash val="solid"/>
          </a:ln>
        </p:spPr>
        <p:txBody>
          <a:bodyPr/>
          <a:lstStyle/>
          <a:p>
            <a:endParaRPr lang="en-US" sz="2400"/>
          </a:p>
        </p:txBody>
      </p:sp>
      <p:sp>
        <p:nvSpPr>
          <p:cNvPr id="16" name="Text 14"/>
          <p:cNvSpPr/>
          <p:nvPr/>
        </p:nvSpPr>
        <p:spPr>
          <a:xfrm>
            <a:off x="268224" y="1389889"/>
            <a:ext cx="463296" cy="985113"/>
          </a:xfrm>
          <a:prstGeom prst="rect">
            <a:avLst/>
          </a:prstGeom>
          <a:noFill/>
          <a:ln/>
        </p:spPr>
        <p:txBody>
          <a:bodyPr wrap="square" lIns="0" tIns="0" rIns="0" bIns="0" rtlCol="0" anchor="ctr"/>
          <a:lstStyle/>
          <a:p>
            <a:pPr algn="ctr"/>
            <a:r>
              <a:rPr lang="en-US" sz="1200" b="1" dirty="0">
                <a:solidFill>
                  <a:srgbClr val="FFFFFF"/>
                </a:solidFill>
              </a:rPr>
              <a:t>G3</a:t>
            </a:r>
            <a:endParaRPr lang="en-US" sz="1200" dirty="0"/>
          </a:p>
        </p:txBody>
      </p:sp>
      <p:sp>
        <p:nvSpPr>
          <p:cNvPr id="17" name="Text 15"/>
          <p:cNvSpPr/>
          <p:nvPr/>
        </p:nvSpPr>
        <p:spPr>
          <a:xfrm>
            <a:off x="780288" y="1426219"/>
            <a:ext cx="2511552" cy="487680"/>
          </a:xfrm>
          <a:prstGeom prst="rect">
            <a:avLst/>
          </a:prstGeom>
          <a:noFill/>
          <a:ln/>
        </p:spPr>
        <p:txBody>
          <a:bodyPr wrap="square" rtlCol="0" anchor="t"/>
          <a:lstStyle/>
          <a:p>
            <a:r>
              <a:rPr lang="en-US" sz="1400" b="1" dirty="0">
                <a:solidFill>
                  <a:srgbClr val="1B3A6B"/>
                </a:solidFill>
                <a:latin typeface="Calibri" pitchFamily="34" charset="0"/>
                <a:ea typeface="Calibri" pitchFamily="34" charset="-122"/>
                <a:cs typeface="Calibri" pitchFamily="34" charset="-120"/>
              </a:rPr>
              <a:t>🏛️ Research Funding</a:t>
            </a:r>
            <a:endParaRPr lang="en-US" sz="1400" dirty="0"/>
          </a:p>
          <a:p>
            <a:r>
              <a:rPr lang="en-US" sz="1400" b="1" dirty="0">
                <a:solidFill>
                  <a:srgbClr val="1B3A6B"/>
                </a:solidFill>
                <a:latin typeface="Calibri" pitchFamily="34" charset="0"/>
                <a:ea typeface="Calibri" pitchFamily="34" charset="-122"/>
                <a:cs typeface="Calibri" pitchFamily="34" charset="-120"/>
              </a:rPr>
              <a:t>Bodies</a:t>
            </a:r>
            <a:endParaRPr lang="en-US" sz="1400" dirty="0"/>
          </a:p>
        </p:txBody>
      </p:sp>
      <p:sp>
        <p:nvSpPr>
          <p:cNvPr id="18" name="Text 16"/>
          <p:cNvSpPr/>
          <p:nvPr/>
        </p:nvSpPr>
        <p:spPr>
          <a:xfrm>
            <a:off x="780288" y="1901707"/>
            <a:ext cx="2511552" cy="451104"/>
          </a:xfrm>
          <a:prstGeom prst="rect">
            <a:avLst/>
          </a:prstGeom>
          <a:noFill/>
          <a:ln/>
        </p:spPr>
        <p:txBody>
          <a:bodyPr wrap="square" rtlCol="0" anchor="t"/>
          <a:lstStyle/>
          <a:p>
            <a:r>
              <a:rPr lang="en-US" sz="1200" i="1" dirty="0">
                <a:solidFill>
                  <a:srgbClr val="7A8BA8"/>
                </a:solidFill>
                <a:latin typeface="Calibri" pitchFamily="34" charset="0"/>
                <a:ea typeface="Calibri" pitchFamily="34" charset="-122"/>
                <a:cs typeface="Calibri" pitchFamily="34" charset="-120"/>
              </a:rPr>
              <a:t>Multilateral banks, bilateral aid</a:t>
            </a:r>
            <a:endParaRPr lang="en-US" sz="1200" dirty="0"/>
          </a:p>
          <a:p>
            <a:r>
              <a:rPr lang="en-US" sz="1200" i="1" dirty="0">
                <a:solidFill>
                  <a:srgbClr val="7A8BA8"/>
                </a:solidFill>
                <a:latin typeface="Calibri" pitchFamily="34" charset="0"/>
                <a:ea typeface="Calibri" pitchFamily="34" charset="-122"/>
                <a:cs typeface="Calibri" pitchFamily="34" charset="-120"/>
              </a:rPr>
              <a:t>agencies (World Bank, DFID, GSRTI)</a:t>
            </a:r>
            <a:endParaRPr lang="en-US" sz="1200" dirty="0"/>
          </a:p>
        </p:txBody>
      </p:sp>
      <p:sp>
        <p:nvSpPr>
          <p:cNvPr id="19" name="Text 17"/>
          <p:cNvSpPr/>
          <p:nvPr/>
        </p:nvSpPr>
        <p:spPr>
          <a:xfrm>
            <a:off x="3328416" y="1389889"/>
            <a:ext cx="268224" cy="985113"/>
          </a:xfrm>
          <a:prstGeom prst="rect">
            <a:avLst/>
          </a:prstGeom>
          <a:noFill/>
          <a:ln/>
        </p:spPr>
        <p:txBody>
          <a:bodyPr wrap="square" rtlCol="0" anchor="ctr"/>
          <a:lstStyle/>
          <a:p>
            <a:pPr algn="ctr"/>
            <a:r>
              <a:rPr lang="en-US" sz="1733" b="1" dirty="0">
                <a:solidFill>
                  <a:srgbClr val="C0392B"/>
                </a:solidFill>
              </a:rPr>
              <a:t>→</a:t>
            </a:r>
            <a:endParaRPr lang="en-US" sz="1733" dirty="0"/>
          </a:p>
        </p:txBody>
      </p:sp>
      <p:sp>
        <p:nvSpPr>
          <p:cNvPr id="20" name="Text 18"/>
          <p:cNvSpPr/>
          <p:nvPr/>
        </p:nvSpPr>
        <p:spPr>
          <a:xfrm>
            <a:off x="3608832" y="1450604"/>
            <a:ext cx="4194048" cy="851001"/>
          </a:xfrm>
          <a:prstGeom prst="rect">
            <a:avLst/>
          </a:prstGeom>
          <a:noFill/>
          <a:ln/>
        </p:spPr>
        <p:txBody>
          <a:bodyPr wrap="square" rtlCol="0" anchor="ctr"/>
          <a:lstStyle/>
          <a:p>
            <a:r>
              <a:rPr lang="en-US" sz="1400" dirty="0">
                <a:solidFill>
                  <a:srgbClr val="1A2E4A"/>
                </a:solidFill>
                <a:latin typeface="Calibri" pitchFamily="34" charset="0"/>
                <a:ea typeface="Calibri" pitchFamily="34" charset="-122"/>
                <a:cs typeface="Calibri" pitchFamily="34" charset="-120"/>
              </a:rPr>
              <a:t>Create dedicated South-South &amp; South-North funding windows for nexus research co-designed with Global South institutions</a:t>
            </a:r>
            <a:endParaRPr lang="en-US" sz="1400" dirty="0"/>
          </a:p>
        </p:txBody>
      </p:sp>
      <p:sp>
        <p:nvSpPr>
          <p:cNvPr id="21" name="Text 19"/>
          <p:cNvSpPr/>
          <p:nvPr/>
        </p:nvSpPr>
        <p:spPr>
          <a:xfrm>
            <a:off x="7851648" y="1389889"/>
            <a:ext cx="292608" cy="985113"/>
          </a:xfrm>
          <a:prstGeom prst="rect">
            <a:avLst/>
          </a:prstGeom>
          <a:noFill/>
          <a:ln/>
        </p:spPr>
        <p:txBody>
          <a:bodyPr wrap="square" rtlCol="0" anchor="ctr"/>
          <a:lstStyle/>
          <a:p>
            <a:pPr algn="ctr"/>
            <a:r>
              <a:rPr lang="en-US" sz="1733" b="1" dirty="0">
                <a:solidFill>
                  <a:srgbClr val="C0392B"/>
                </a:solidFill>
              </a:rPr>
              <a:t>←</a:t>
            </a:r>
            <a:endParaRPr lang="en-US" sz="1733" dirty="0"/>
          </a:p>
        </p:txBody>
      </p:sp>
      <p:sp>
        <p:nvSpPr>
          <p:cNvPr id="22" name="Text 20"/>
          <p:cNvSpPr/>
          <p:nvPr/>
        </p:nvSpPr>
        <p:spPr>
          <a:xfrm>
            <a:off x="8168640" y="1414027"/>
            <a:ext cx="3730752" cy="633984"/>
          </a:xfrm>
          <a:prstGeom prst="rect">
            <a:avLst/>
          </a:prstGeom>
          <a:noFill/>
          <a:ln/>
        </p:spPr>
        <p:txBody>
          <a:bodyPr wrap="square" rtlCol="0" anchor="t"/>
          <a:lstStyle/>
          <a:p>
            <a:r>
              <a:rPr lang="en-US" sz="1200" dirty="0">
                <a:solidFill>
                  <a:srgbClr val="1A2E4A"/>
                </a:solidFill>
                <a:latin typeface="Calibri" pitchFamily="34" charset="0"/>
                <a:ea typeface="Calibri" pitchFamily="34" charset="-122"/>
                <a:cs typeface="Calibri" pitchFamily="34" charset="-120"/>
              </a:rPr>
              <a:t>Ghana, Kenya &amp; Zimbabwe appear at fringes of co-authorship network. India &amp; China show high single-country publication (SCP) ratios vs. low multi-country collaboration.</a:t>
            </a:r>
            <a:endParaRPr lang="en-US" sz="1200" dirty="0"/>
          </a:p>
        </p:txBody>
      </p:sp>
      <p:sp>
        <p:nvSpPr>
          <p:cNvPr id="23" name="Shape 21"/>
          <p:cNvSpPr/>
          <p:nvPr/>
        </p:nvSpPr>
        <p:spPr>
          <a:xfrm>
            <a:off x="8168640" y="2033625"/>
            <a:ext cx="3730752" cy="268224"/>
          </a:xfrm>
          <a:prstGeom prst="roundRect">
            <a:avLst>
              <a:gd name="adj" fmla="val 13636"/>
            </a:avLst>
          </a:prstGeom>
          <a:solidFill>
            <a:srgbClr val="EBF0F8"/>
          </a:solidFill>
          <a:ln w="9525">
            <a:solidFill>
              <a:srgbClr val="C0392B"/>
            </a:solidFill>
            <a:prstDash val="solid"/>
          </a:ln>
        </p:spPr>
        <p:txBody>
          <a:bodyPr/>
          <a:lstStyle/>
          <a:p>
            <a:endParaRPr lang="en-US" sz="2400"/>
          </a:p>
        </p:txBody>
      </p:sp>
      <p:sp>
        <p:nvSpPr>
          <p:cNvPr id="24" name="Text 22"/>
          <p:cNvSpPr/>
          <p:nvPr/>
        </p:nvSpPr>
        <p:spPr>
          <a:xfrm>
            <a:off x="8168640" y="2033625"/>
            <a:ext cx="3730752" cy="268224"/>
          </a:xfrm>
          <a:prstGeom prst="rect">
            <a:avLst/>
          </a:prstGeom>
          <a:noFill/>
          <a:ln/>
        </p:spPr>
        <p:txBody>
          <a:bodyPr wrap="square" lIns="0" tIns="0" rIns="0" bIns="0" rtlCol="0" anchor="ctr"/>
          <a:lstStyle/>
          <a:p>
            <a:pPr algn="ctr"/>
            <a:r>
              <a:rPr lang="en-US" sz="907" b="1" dirty="0">
                <a:solidFill>
                  <a:srgbClr val="C0392B"/>
                </a:solidFill>
              </a:rPr>
              <a:t>→ Gap G3: Geographical exclusion</a:t>
            </a:r>
            <a:endParaRPr lang="en-US" sz="907" dirty="0"/>
          </a:p>
        </p:txBody>
      </p:sp>
      <p:sp>
        <p:nvSpPr>
          <p:cNvPr id="25" name="Shape 23"/>
          <p:cNvSpPr/>
          <p:nvPr/>
        </p:nvSpPr>
        <p:spPr>
          <a:xfrm>
            <a:off x="268224" y="2423770"/>
            <a:ext cx="11655552" cy="985113"/>
          </a:xfrm>
          <a:prstGeom prst="rect">
            <a:avLst/>
          </a:prstGeom>
          <a:solidFill>
            <a:srgbClr val="EBF0F8"/>
          </a:solidFill>
          <a:ln w="6350">
            <a:solidFill>
              <a:srgbClr val="C5CFE0"/>
            </a:solidFill>
            <a:prstDash val="solid"/>
          </a:ln>
        </p:spPr>
        <p:txBody>
          <a:bodyPr/>
          <a:lstStyle/>
          <a:p>
            <a:endParaRPr lang="en-US" sz="2400"/>
          </a:p>
        </p:txBody>
      </p:sp>
      <p:sp>
        <p:nvSpPr>
          <p:cNvPr id="26" name="Shape 24"/>
          <p:cNvSpPr/>
          <p:nvPr/>
        </p:nvSpPr>
        <p:spPr>
          <a:xfrm>
            <a:off x="268224" y="2423770"/>
            <a:ext cx="463296" cy="985113"/>
          </a:xfrm>
          <a:prstGeom prst="rect">
            <a:avLst/>
          </a:prstGeom>
          <a:solidFill>
            <a:srgbClr val="2B5FA8"/>
          </a:solidFill>
          <a:ln w="12700">
            <a:solidFill>
              <a:srgbClr val="2B5FA8"/>
            </a:solidFill>
            <a:prstDash val="solid"/>
          </a:ln>
        </p:spPr>
        <p:txBody>
          <a:bodyPr/>
          <a:lstStyle/>
          <a:p>
            <a:endParaRPr lang="en-US" sz="2400"/>
          </a:p>
        </p:txBody>
      </p:sp>
      <p:sp>
        <p:nvSpPr>
          <p:cNvPr id="27" name="Text 25"/>
          <p:cNvSpPr/>
          <p:nvPr/>
        </p:nvSpPr>
        <p:spPr>
          <a:xfrm>
            <a:off x="268224" y="2423770"/>
            <a:ext cx="463296" cy="985113"/>
          </a:xfrm>
          <a:prstGeom prst="rect">
            <a:avLst/>
          </a:prstGeom>
          <a:noFill/>
          <a:ln/>
        </p:spPr>
        <p:txBody>
          <a:bodyPr wrap="square" lIns="0" tIns="0" rIns="0" bIns="0" rtlCol="0" anchor="ctr"/>
          <a:lstStyle/>
          <a:p>
            <a:pPr algn="ctr"/>
            <a:r>
              <a:rPr lang="en-US" sz="1200" b="1" dirty="0">
                <a:solidFill>
                  <a:srgbClr val="FFFFFF"/>
                </a:solidFill>
              </a:rPr>
              <a:t>G1</a:t>
            </a:r>
            <a:endParaRPr lang="en-US" sz="1200" dirty="0"/>
          </a:p>
        </p:txBody>
      </p:sp>
      <p:sp>
        <p:nvSpPr>
          <p:cNvPr id="28" name="Text 26"/>
          <p:cNvSpPr/>
          <p:nvPr/>
        </p:nvSpPr>
        <p:spPr>
          <a:xfrm>
            <a:off x="780288" y="2460100"/>
            <a:ext cx="2511552" cy="487680"/>
          </a:xfrm>
          <a:prstGeom prst="rect">
            <a:avLst/>
          </a:prstGeom>
          <a:noFill/>
          <a:ln/>
        </p:spPr>
        <p:txBody>
          <a:bodyPr wrap="square" rtlCol="0" anchor="t"/>
          <a:lstStyle/>
          <a:p>
            <a:r>
              <a:rPr lang="en-US" sz="1400" b="1" dirty="0">
                <a:solidFill>
                  <a:srgbClr val="1B3A6B"/>
                </a:solidFill>
                <a:latin typeface="Calibri" pitchFamily="34" charset="0"/>
                <a:ea typeface="Calibri" pitchFamily="34" charset="-122"/>
                <a:cs typeface="Calibri" pitchFamily="34" charset="-120"/>
              </a:rPr>
              <a:t>🤖 Tech Developers &amp;</a:t>
            </a:r>
            <a:endParaRPr lang="en-US" sz="1400" dirty="0"/>
          </a:p>
          <a:p>
            <a:r>
              <a:rPr lang="en-US" sz="1400" b="1" dirty="0">
                <a:solidFill>
                  <a:srgbClr val="1B3A6B"/>
                </a:solidFill>
                <a:latin typeface="Calibri" pitchFamily="34" charset="0"/>
                <a:ea typeface="Calibri" pitchFamily="34" charset="-122"/>
                <a:cs typeface="Calibri" pitchFamily="34" charset="-120"/>
              </a:rPr>
              <a:t>AI Practitioners</a:t>
            </a:r>
            <a:endParaRPr lang="en-US" sz="1400" dirty="0"/>
          </a:p>
        </p:txBody>
      </p:sp>
      <p:sp>
        <p:nvSpPr>
          <p:cNvPr id="29" name="Text 27"/>
          <p:cNvSpPr/>
          <p:nvPr/>
        </p:nvSpPr>
        <p:spPr>
          <a:xfrm>
            <a:off x="780288" y="2935588"/>
            <a:ext cx="2511552" cy="451104"/>
          </a:xfrm>
          <a:prstGeom prst="rect">
            <a:avLst/>
          </a:prstGeom>
          <a:noFill/>
          <a:ln/>
        </p:spPr>
        <p:txBody>
          <a:bodyPr wrap="square" rtlCol="0" anchor="t"/>
          <a:lstStyle/>
          <a:p>
            <a:r>
              <a:rPr lang="en-US" sz="1200" i="1" dirty="0">
                <a:solidFill>
                  <a:srgbClr val="7A8BA8"/>
                </a:solidFill>
                <a:latin typeface="Calibri" pitchFamily="34" charset="0"/>
                <a:ea typeface="Calibri" pitchFamily="34" charset="-122"/>
                <a:cs typeface="Calibri" pitchFamily="34" charset="-120"/>
              </a:rPr>
              <a:t>AgriTech firms, data scientists,</a:t>
            </a:r>
            <a:endParaRPr lang="en-US" sz="1200" dirty="0"/>
          </a:p>
          <a:p>
            <a:r>
              <a:rPr lang="en-US" sz="1200" i="1" dirty="0">
                <a:solidFill>
                  <a:srgbClr val="7A8BA8"/>
                </a:solidFill>
                <a:latin typeface="Calibri" pitchFamily="34" charset="0"/>
                <a:ea typeface="Calibri" pitchFamily="34" charset="-122"/>
                <a:cs typeface="Calibri" pitchFamily="34" charset="-120"/>
              </a:rPr>
              <a:t>precision agriculture companies</a:t>
            </a:r>
            <a:endParaRPr lang="en-US" sz="1200" dirty="0"/>
          </a:p>
        </p:txBody>
      </p:sp>
      <p:sp>
        <p:nvSpPr>
          <p:cNvPr id="30" name="Text 28"/>
          <p:cNvSpPr/>
          <p:nvPr/>
        </p:nvSpPr>
        <p:spPr>
          <a:xfrm>
            <a:off x="3328416" y="2423770"/>
            <a:ext cx="268224" cy="985113"/>
          </a:xfrm>
          <a:prstGeom prst="rect">
            <a:avLst/>
          </a:prstGeom>
          <a:noFill/>
          <a:ln/>
        </p:spPr>
        <p:txBody>
          <a:bodyPr wrap="square" rtlCol="0" anchor="ctr"/>
          <a:lstStyle/>
          <a:p>
            <a:pPr algn="ctr"/>
            <a:r>
              <a:rPr lang="en-US" sz="1733" b="1" dirty="0">
                <a:solidFill>
                  <a:srgbClr val="2B5FA8"/>
                </a:solidFill>
              </a:rPr>
              <a:t>→</a:t>
            </a:r>
            <a:endParaRPr lang="en-US" sz="1733" dirty="0"/>
          </a:p>
        </p:txBody>
      </p:sp>
      <p:sp>
        <p:nvSpPr>
          <p:cNvPr id="31" name="Text 29"/>
          <p:cNvSpPr/>
          <p:nvPr/>
        </p:nvSpPr>
        <p:spPr>
          <a:xfrm>
            <a:off x="3608832" y="2484485"/>
            <a:ext cx="4194048" cy="851001"/>
          </a:xfrm>
          <a:prstGeom prst="rect">
            <a:avLst/>
          </a:prstGeom>
          <a:noFill/>
          <a:ln/>
        </p:spPr>
        <p:txBody>
          <a:bodyPr wrap="square" rtlCol="0" anchor="ctr"/>
          <a:lstStyle/>
          <a:p>
            <a:r>
              <a:rPr lang="en-US" sz="1400" dirty="0">
                <a:solidFill>
                  <a:srgbClr val="1A2E4A"/>
                </a:solidFill>
                <a:latin typeface="Calibri" pitchFamily="34" charset="0"/>
                <a:ea typeface="Calibri" pitchFamily="34" charset="-122"/>
                <a:cs typeface="Calibri" pitchFamily="34" charset="-120"/>
              </a:rPr>
              <a:t>Build ethical, inclusive AI governance frameworks for food systems; especially for smallholder &amp; low-resource settings at risk of being bypassed</a:t>
            </a:r>
            <a:endParaRPr lang="en-US" sz="1400" dirty="0"/>
          </a:p>
        </p:txBody>
      </p:sp>
      <p:sp>
        <p:nvSpPr>
          <p:cNvPr id="32" name="Text 30"/>
          <p:cNvSpPr/>
          <p:nvPr/>
        </p:nvSpPr>
        <p:spPr>
          <a:xfrm>
            <a:off x="7851648" y="2423770"/>
            <a:ext cx="292608" cy="985113"/>
          </a:xfrm>
          <a:prstGeom prst="rect">
            <a:avLst/>
          </a:prstGeom>
          <a:noFill/>
          <a:ln/>
        </p:spPr>
        <p:txBody>
          <a:bodyPr wrap="square" rtlCol="0" anchor="ctr"/>
          <a:lstStyle/>
          <a:p>
            <a:pPr algn="ctr"/>
            <a:r>
              <a:rPr lang="en-US" sz="1733" b="1" dirty="0">
                <a:solidFill>
                  <a:srgbClr val="2B5FA8"/>
                </a:solidFill>
              </a:rPr>
              <a:t>←</a:t>
            </a:r>
            <a:endParaRPr lang="en-US" sz="1733" dirty="0"/>
          </a:p>
        </p:txBody>
      </p:sp>
      <p:sp>
        <p:nvSpPr>
          <p:cNvPr id="33" name="Text 31"/>
          <p:cNvSpPr/>
          <p:nvPr/>
        </p:nvSpPr>
        <p:spPr>
          <a:xfrm>
            <a:off x="8168640" y="2447908"/>
            <a:ext cx="3730752" cy="633984"/>
          </a:xfrm>
          <a:prstGeom prst="rect">
            <a:avLst/>
          </a:prstGeom>
          <a:noFill/>
          <a:ln/>
        </p:spPr>
        <p:txBody>
          <a:bodyPr wrap="square" rtlCol="0" anchor="t"/>
          <a:lstStyle/>
          <a:p>
            <a:r>
              <a:rPr lang="en-US" sz="1200" dirty="0">
                <a:solidFill>
                  <a:srgbClr val="1A2E4A"/>
                </a:solidFill>
                <a:latin typeface="Calibri" pitchFamily="34" charset="0"/>
                <a:ea typeface="Calibri" pitchFamily="34" charset="-122"/>
                <a:cs typeface="Calibri" pitchFamily="34" charset="-120"/>
              </a:rPr>
              <a:t>Thematic map 2024–26: ML, deep learning &amp; disease detection near basic themes boundary, yet no integrative framework links digital tools to food security outcomes.</a:t>
            </a:r>
            <a:endParaRPr lang="en-US" sz="1200" dirty="0"/>
          </a:p>
        </p:txBody>
      </p:sp>
      <p:sp>
        <p:nvSpPr>
          <p:cNvPr id="34" name="Shape 32"/>
          <p:cNvSpPr/>
          <p:nvPr/>
        </p:nvSpPr>
        <p:spPr>
          <a:xfrm>
            <a:off x="8168640" y="3067507"/>
            <a:ext cx="3730752" cy="268224"/>
          </a:xfrm>
          <a:prstGeom prst="roundRect">
            <a:avLst>
              <a:gd name="adj" fmla="val 13636"/>
            </a:avLst>
          </a:prstGeom>
          <a:solidFill>
            <a:srgbClr val="EBF0F8"/>
          </a:solidFill>
          <a:ln w="9525">
            <a:solidFill>
              <a:srgbClr val="2B5FA8"/>
            </a:solidFill>
            <a:prstDash val="solid"/>
          </a:ln>
        </p:spPr>
        <p:txBody>
          <a:bodyPr/>
          <a:lstStyle/>
          <a:p>
            <a:endParaRPr lang="en-US" sz="2400"/>
          </a:p>
        </p:txBody>
      </p:sp>
      <p:sp>
        <p:nvSpPr>
          <p:cNvPr id="35" name="Text 33"/>
          <p:cNvSpPr/>
          <p:nvPr/>
        </p:nvSpPr>
        <p:spPr>
          <a:xfrm>
            <a:off x="8168640" y="3042877"/>
            <a:ext cx="3730752" cy="268224"/>
          </a:xfrm>
          <a:prstGeom prst="rect">
            <a:avLst/>
          </a:prstGeom>
          <a:noFill/>
          <a:ln/>
        </p:spPr>
        <p:txBody>
          <a:bodyPr wrap="square" lIns="0" tIns="0" rIns="0" bIns="0" rtlCol="0" anchor="ctr"/>
          <a:lstStyle/>
          <a:p>
            <a:pPr algn="ctr"/>
            <a:r>
              <a:rPr lang="en-US" sz="1200" b="1" dirty="0">
                <a:solidFill>
                  <a:srgbClr val="2B5FA8"/>
                </a:solidFill>
              </a:rPr>
              <a:t>→ Gap G1: No digital-nexus framework</a:t>
            </a:r>
            <a:endParaRPr lang="en-US" sz="1200" dirty="0"/>
          </a:p>
        </p:txBody>
      </p:sp>
      <p:sp>
        <p:nvSpPr>
          <p:cNvPr id="36" name="Shape 34"/>
          <p:cNvSpPr/>
          <p:nvPr/>
        </p:nvSpPr>
        <p:spPr>
          <a:xfrm>
            <a:off x="268224" y="3457652"/>
            <a:ext cx="11655552" cy="985113"/>
          </a:xfrm>
          <a:prstGeom prst="rect">
            <a:avLst/>
          </a:prstGeom>
          <a:solidFill>
            <a:srgbClr val="FFFFFF"/>
          </a:solidFill>
          <a:ln w="6350">
            <a:solidFill>
              <a:srgbClr val="C5CFE0"/>
            </a:solidFill>
            <a:prstDash val="solid"/>
          </a:ln>
        </p:spPr>
        <p:txBody>
          <a:bodyPr/>
          <a:lstStyle/>
          <a:p>
            <a:endParaRPr lang="en-US" sz="2400"/>
          </a:p>
        </p:txBody>
      </p:sp>
      <p:sp>
        <p:nvSpPr>
          <p:cNvPr id="37" name="Shape 35"/>
          <p:cNvSpPr/>
          <p:nvPr/>
        </p:nvSpPr>
        <p:spPr>
          <a:xfrm>
            <a:off x="268224" y="3457652"/>
            <a:ext cx="463296" cy="985113"/>
          </a:xfrm>
          <a:prstGeom prst="rect">
            <a:avLst/>
          </a:prstGeom>
          <a:solidFill>
            <a:srgbClr val="1A7AB5"/>
          </a:solidFill>
          <a:ln w="12700">
            <a:solidFill>
              <a:srgbClr val="1A7AB5"/>
            </a:solidFill>
            <a:prstDash val="solid"/>
          </a:ln>
        </p:spPr>
        <p:txBody>
          <a:bodyPr/>
          <a:lstStyle/>
          <a:p>
            <a:endParaRPr lang="en-US" sz="2400"/>
          </a:p>
        </p:txBody>
      </p:sp>
      <p:sp>
        <p:nvSpPr>
          <p:cNvPr id="38" name="Text 36"/>
          <p:cNvSpPr/>
          <p:nvPr/>
        </p:nvSpPr>
        <p:spPr>
          <a:xfrm>
            <a:off x="268224" y="3457652"/>
            <a:ext cx="463296" cy="985113"/>
          </a:xfrm>
          <a:prstGeom prst="rect">
            <a:avLst/>
          </a:prstGeom>
          <a:noFill/>
          <a:ln/>
        </p:spPr>
        <p:txBody>
          <a:bodyPr wrap="square" lIns="0" tIns="0" rIns="0" bIns="0" rtlCol="0" anchor="ctr"/>
          <a:lstStyle/>
          <a:p>
            <a:pPr algn="ctr"/>
            <a:r>
              <a:rPr lang="en-US" sz="1200" b="1" dirty="0">
                <a:solidFill>
                  <a:srgbClr val="FFFFFF"/>
                </a:solidFill>
              </a:rPr>
              <a:t>G4</a:t>
            </a:r>
            <a:endParaRPr lang="en-US" sz="1200" dirty="0"/>
          </a:p>
        </p:txBody>
      </p:sp>
      <p:sp>
        <p:nvSpPr>
          <p:cNvPr id="39" name="Text 37"/>
          <p:cNvSpPr/>
          <p:nvPr/>
        </p:nvSpPr>
        <p:spPr>
          <a:xfrm>
            <a:off x="780288" y="3493981"/>
            <a:ext cx="2511552" cy="487680"/>
          </a:xfrm>
          <a:prstGeom prst="rect">
            <a:avLst/>
          </a:prstGeom>
          <a:noFill/>
          <a:ln/>
        </p:spPr>
        <p:txBody>
          <a:bodyPr wrap="square" rtlCol="0" anchor="t"/>
          <a:lstStyle/>
          <a:p>
            <a:r>
              <a:rPr lang="en-US" sz="1400" b="1" dirty="0">
                <a:solidFill>
                  <a:srgbClr val="1B3A6B"/>
                </a:solidFill>
                <a:latin typeface="Calibri" pitchFamily="34" charset="0"/>
                <a:ea typeface="Calibri" pitchFamily="34" charset="-122"/>
                <a:cs typeface="Calibri" pitchFamily="34" charset="-120"/>
              </a:rPr>
              <a:t>🌍 National Govts &amp;</a:t>
            </a:r>
            <a:endParaRPr lang="en-US" sz="1400" dirty="0"/>
          </a:p>
          <a:p>
            <a:r>
              <a:rPr lang="en-US" sz="1400" b="1" dirty="0">
                <a:solidFill>
                  <a:srgbClr val="1B3A6B"/>
                </a:solidFill>
                <a:latin typeface="Calibri" pitchFamily="34" charset="0"/>
                <a:ea typeface="Calibri" pitchFamily="34" charset="-122"/>
                <a:cs typeface="Calibri" pitchFamily="34" charset="-120"/>
              </a:rPr>
              <a:t>Line Ministries</a:t>
            </a:r>
            <a:endParaRPr lang="en-US" sz="1400" dirty="0"/>
          </a:p>
        </p:txBody>
      </p:sp>
      <p:sp>
        <p:nvSpPr>
          <p:cNvPr id="40" name="Text 38"/>
          <p:cNvSpPr/>
          <p:nvPr/>
        </p:nvSpPr>
        <p:spPr>
          <a:xfrm>
            <a:off x="780288" y="3969469"/>
            <a:ext cx="2511552" cy="451104"/>
          </a:xfrm>
          <a:prstGeom prst="rect">
            <a:avLst/>
          </a:prstGeom>
          <a:noFill/>
          <a:ln/>
        </p:spPr>
        <p:txBody>
          <a:bodyPr wrap="square" rtlCol="0" anchor="t"/>
          <a:lstStyle/>
          <a:p>
            <a:r>
              <a:rPr lang="en-US" sz="1200" i="1" dirty="0">
                <a:solidFill>
                  <a:srgbClr val="7A8BA8"/>
                </a:solidFill>
                <a:latin typeface="Calibri" pitchFamily="34" charset="0"/>
                <a:ea typeface="Calibri" pitchFamily="34" charset="-122"/>
                <a:cs typeface="Calibri" pitchFamily="34" charset="-120"/>
              </a:rPr>
              <a:t>Ministries of Agriculture, Energy</a:t>
            </a:r>
            <a:endParaRPr lang="en-US" sz="1200" dirty="0"/>
          </a:p>
          <a:p>
            <a:r>
              <a:rPr lang="en-US" sz="1200" i="1" dirty="0">
                <a:solidFill>
                  <a:srgbClr val="7A8BA8"/>
                </a:solidFill>
                <a:latin typeface="Calibri" pitchFamily="34" charset="0"/>
                <a:ea typeface="Calibri" pitchFamily="34" charset="-122"/>
                <a:cs typeface="Calibri" pitchFamily="34" charset="-120"/>
              </a:rPr>
              <a:t>&amp; Environment</a:t>
            </a:r>
            <a:endParaRPr lang="en-US" sz="1200" dirty="0"/>
          </a:p>
        </p:txBody>
      </p:sp>
      <p:sp>
        <p:nvSpPr>
          <p:cNvPr id="41" name="Text 39"/>
          <p:cNvSpPr/>
          <p:nvPr/>
        </p:nvSpPr>
        <p:spPr>
          <a:xfrm>
            <a:off x="3328416" y="3457652"/>
            <a:ext cx="268224" cy="985113"/>
          </a:xfrm>
          <a:prstGeom prst="rect">
            <a:avLst/>
          </a:prstGeom>
          <a:noFill/>
          <a:ln/>
        </p:spPr>
        <p:txBody>
          <a:bodyPr wrap="square" rtlCol="0" anchor="ctr"/>
          <a:lstStyle/>
          <a:p>
            <a:pPr algn="ctr"/>
            <a:r>
              <a:rPr lang="en-US" sz="1733" b="1" dirty="0">
                <a:solidFill>
                  <a:srgbClr val="1A7AB5"/>
                </a:solidFill>
              </a:rPr>
              <a:t>→</a:t>
            </a:r>
            <a:endParaRPr lang="en-US" sz="1733" dirty="0"/>
          </a:p>
        </p:txBody>
      </p:sp>
      <p:sp>
        <p:nvSpPr>
          <p:cNvPr id="42" name="Text 40"/>
          <p:cNvSpPr/>
          <p:nvPr/>
        </p:nvSpPr>
        <p:spPr>
          <a:xfrm>
            <a:off x="3608832" y="3518366"/>
            <a:ext cx="4194048" cy="851001"/>
          </a:xfrm>
          <a:prstGeom prst="rect">
            <a:avLst/>
          </a:prstGeom>
          <a:noFill/>
          <a:ln/>
        </p:spPr>
        <p:txBody>
          <a:bodyPr wrap="square" rtlCol="0" anchor="ctr"/>
          <a:lstStyle/>
          <a:p>
            <a:r>
              <a:rPr lang="en-US" sz="1400" dirty="0">
                <a:solidFill>
                  <a:srgbClr val="1A2E4A"/>
                </a:solidFill>
                <a:latin typeface="Calibri" pitchFamily="34" charset="0"/>
                <a:ea typeface="Calibri" pitchFamily="34" charset="-122"/>
                <a:cs typeface="Calibri" pitchFamily="34" charset="-120"/>
              </a:rPr>
              <a:t>Make food supply chain resilience a cross-ministry policy objective with explicit coordination mechanisms integrating climate variability</a:t>
            </a:r>
            <a:endParaRPr lang="en-US" sz="1400" dirty="0"/>
          </a:p>
        </p:txBody>
      </p:sp>
      <p:sp>
        <p:nvSpPr>
          <p:cNvPr id="43" name="Text 41"/>
          <p:cNvSpPr/>
          <p:nvPr/>
        </p:nvSpPr>
        <p:spPr>
          <a:xfrm>
            <a:off x="7851648" y="3457652"/>
            <a:ext cx="292608" cy="985113"/>
          </a:xfrm>
          <a:prstGeom prst="rect">
            <a:avLst/>
          </a:prstGeom>
          <a:noFill/>
          <a:ln/>
        </p:spPr>
        <p:txBody>
          <a:bodyPr wrap="square" rtlCol="0" anchor="ctr"/>
          <a:lstStyle/>
          <a:p>
            <a:pPr algn="ctr"/>
            <a:r>
              <a:rPr lang="en-US" sz="1733" b="1" dirty="0">
                <a:solidFill>
                  <a:srgbClr val="1A7AB5"/>
                </a:solidFill>
              </a:rPr>
              <a:t>←</a:t>
            </a:r>
            <a:endParaRPr lang="en-US" sz="1733" dirty="0"/>
          </a:p>
        </p:txBody>
      </p:sp>
      <p:sp>
        <p:nvSpPr>
          <p:cNvPr id="44" name="Text 42"/>
          <p:cNvSpPr/>
          <p:nvPr/>
        </p:nvSpPr>
        <p:spPr>
          <a:xfrm>
            <a:off x="8168640" y="3481789"/>
            <a:ext cx="3730752" cy="633984"/>
          </a:xfrm>
          <a:prstGeom prst="rect">
            <a:avLst/>
          </a:prstGeom>
          <a:noFill/>
          <a:ln/>
        </p:spPr>
        <p:txBody>
          <a:bodyPr wrap="square" rtlCol="0" anchor="t"/>
          <a:lstStyle/>
          <a:p>
            <a:r>
              <a:rPr lang="en-US" sz="1200" dirty="0">
                <a:solidFill>
                  <a:srgbClr val="1A2E4A"/>
                </a:solidFill>
                <a:latin typeface="Calibri" pitchFamily="34" charset="0"/>
                <a:ea typeface="Calibri" pitchFamily="34" charset="-122"/>
                <a:cs typeface="Calibri" pitchFamily="34" charset="-120"/>
              </a:rPr>
              <a:t>Climate variability niche-positioned (2015–23); supply chains peripheral (2024–26). COVID-19 &amp; Russia-Ukraine exposed unaddressed structural vulnerabilities in nexus.</a:t>
            </a:r>
            <a:endParaRPr lang="en-US" sz="1200" dirty="0"/>
          </a:p>
        </p:txBody>
      </p:sp>
      <p:sp>
        <p:nvSpPr>
          <p:cNvPr id="45" name="Shape 43"/>
          <p:cNvSpPr/>
          <p:nvPr/>
        </p:nvSpPr>
        <p:spPr>
          <a:xfrm>
            <a:off x="8168640" y="4101389"/>
            <a:ext cx="3730752" cy="268224"/>
          </a:xfrm>
          <a:prstGeom prst="roundRect">
            <a:avLst>
              <a:gd name="adj" fmla="val 13636"/>
            </a:avLst>
          </a:prstGeom>
          <a:solidFill>
            <a:srgbClr val="EBF0F8"/>
          </a:solidFill>
          <a:ln w="9525">
            <a:solidFill>
              <a:srgbClr val="1A7AB5"/>
            </a:solidFill>
            <a:prstDash val="solid"/>
          </a:ln>
        </p:spPr>
        <p:txBody>
          <a:bodyPr/>
          <a:lstStyle/>
          <a:p>
            <a:endParaRPr lang="en-US" sz="2400"/>
          </a:p>
        </p:txBody>
      </p:sp>
      <p:sp>
        <p:nvSpPr>
          <p:cNvPr id="46" name="Text 44"/>
          <p:cNvSpPr/>
          <p:nvPr/>
        </p:nvSpPr>
        <p:spPr>
          <a:xfrm>
            <a:off x="8168640" y="4076760"/>
            <a:ext cx="3730752" cy="268224"/>
          </a:xfrm>
          <a:prstGeom prst="rect">
            <a:avLst/>
          </a:prstGeom>
          <a:noFill/>
          <a:ln/>
        </p:spPr>
        <p:txBody>
          <a:bodyPr wrap="square" lIns="0" tIns="0" rIns="0" bIns="0" rtlCol="0" anchor="ctr"/>
          <a:lstStyle/>
          <a:p>
            <a:pPr algn="ctr"/>
            <a:r>
              <a:rPr lang="en-US" sz="1200" b="1" dirty="0">
                <a:solidFill>
                  <a:srgbClr val="1A7AB5"/>
                </a:solidFill>
              </a:rPr>
              <a:t>→ Gap G4: Supply chain resilience understudied</a:t>
            </a:r>
            <a:endParaRPr lang="en-US" sz="1200" dirty="0"/>
          </a:p>
        </p:txBody>
      </p:sp>
      <p:sp>
        <p:nvSpPr>
          <p:cNvPr id="47" name="Shape 45"/>
          <p:cNvSpPr/>
          <p:nvPr/>
        </p:nvSpPr>
        <p:spPr>
          <a:xfrm>
            <a:off x="268224" y="4491534"/>
            <a:ext cx="11655552" cy="985113"/>
          </a:xfrm>
          <a:prstGeom prst="rect">
            <a:avLst/>
          </a:prstGeom>
          <a:solidFill>
            <a:srgbClr val="EBF0F8"/>
          </a:solidFill>
          <a:ln w="6350">
            <a:solidFill>
              <a:srgbClr val="C5CFE0"/>
            </a:solidFill>
            <a:prstDash val="solid"/>
          </a:ln>
        </p:spPr>
        <p:txBody>
          <a:bodyPr/>
          <a:lstStyle/>
          <a:p>
            <a:endParaRPr lang="en-US" sz="2400"/>
          </a:p>
        </p:txBody>
      </p:sp>
      <p:sp>
        <p:nvSpPr>
          <p:cNvPr id="48" name="Shape 46"/>
          <p:cNvSpPr/>
          <p:nvPr/>
        </p:nvSpPr>
        <p:spPr>
          <a:xfrm>
            <a:off x="268224" y="4491534"/>
            <a:ext cx="463296" cy="985113"/>
          </a:xfrm>
          <a:prstGeom prst="rect">
            <a:avLst/>
          </a:prstGeom>
          <a:solidFill>
            <a:srgbClr val="1A6B3A"/>
          </a:solidFill>
          <a:ln w="12700">
            <a:solidFill>
              <a:srgbClr val="1A6B3A"/>
            </a:solidFill>
            <a:prstDash val="solid"/>
          </a:ln>
        </p:spPr>
        <p:txBody>
          <a:bodyPr/>
          <a:lstStyle/>
          <a:p>
            <a:endParaRPr lang="en-US" sz="2400"/>
          </a:p>
        </p:txBody>
      </p:sp>
      <p:sp>
        <p:nvSpPr>
          <p:cNvPr id="49" name="Text 47"/>
          <p:cNvSpPr/>
          <p:nvPr/>
        </p:nvSpPr>
        <p:spPr>
          <a:xfrm>
            <a:off x="268224" y="4491534"/>
            <a:ext cx="463296" cy="985113"/>
          </a:xfrm>
          <a:prstGeom prst="rect">
            <a:avLst/>
          </a:prstGeom>
          <a:noFill/>
          <a:ln/>
        </p:spPr>
        <p:txBody>
          <a:bodyPr wrap="square" lIns="0" tIns="0" rIns="0" bIns="0" rtlCol="0" anchor="ctr"/>
          <a:lstStyle/>
          <a:p>
            <a:pPr algn="ctr"/>
            <a:r>
              <a:rPr lang="en-US" sz="1200" b="1" dirty="0">
                <a:solidFill>
                  <a:srgbClr val="FFFFFF"/>
                </a:solidFill>
              </a:rPr>
              <a:t>G5</a:t>
            </a:r>
            <a:endParaRPr lang="en-US" sz="1200" dirty="0"/>
          </a:p>
        </p:txBody>
      </p:sp>
      <p:sp>
        <p:nvSpPr>
          <p:cNvPr id="50" name="Text 48"/>
          <p:cNvSpPr/>
          <p:nvPr/>
        </p:nvSpPr>
        <p:spPr>
          <a:xfrm>
            <a:off x="780288" y="4527864"/>
            <a:ext cx="2511552" cy="487680"/>
          </a:xfrm>
          <a:prstGeom prst="rect">
            <a:avLst/>
          </a:prstGeom>
          <a:noFill/>
          <a:ln/>
        </p:spPr>
        <p:txBody>
          <a:bodyPr wrap="square" rtlCol="0" anchor="t"/>
          <a:lstStyle/>
          <a:p>
            <a:r>
              <a:rPr lang="en-US" sz="1400" b="1" dirty="0">
                <a:solidFill>
                  <a:srgbClr val="1B3A6B"/>
                </a:solidFill>
                <a:latin typeface="Calibri" pitchFamily="34" charset="0"/>
                <a:ea typeface="Calibri" pitchFamily="34" charset="-122"/>
                <a:cs typeface="Calibri" pitchFamily="34" charset="-120"/>
              </a:rPr>
              <a:t>📚 Research Ministries</a:t>
            </a:r>
            <a:endParaRPr lang="en-US" sz="1400" dirty="0"/>
          </a:p>
          <a:p>
            <a:r>
              <a:rPr lang="en-US" sz="1400" b="1" dirty="0">
                <a:solidFill>
                  <a:srgbClr val="1B3A6B"/>
                </a:solidFill>
                <a:latin typeface="Calibri" pitchFamily="34" charset="0"/>
                <a:ea typeface="Calibri" pitchFamily="34" charset="-122"/>
                <a:cs typeface="Calibri" pitchFamily="34" charset="-120"/>
              </a:rPr>
              <a:t>&amp; Universities</a:t>
            </a:r>
            <a:endParaRPr lang="en-US" sz="1400" dirty="0"/>
          </a:p>
        </p:txBody>
      </p:sp>
      <p:sp>
        <p:nvSpPr>
          <p:cNvPr id="51" name="Text 49"/>
          <p:cNvSpPr/>
          <p:nvPr/>
        </p:nvSpPr>
        <p:spPr>
          <a:xfrm>
            <a:off x="780288" y="5003352"/>
            <a:ext cx="2511552" cy="451104"/>
          </a:xfrm>
          <a:prstGeom prst="rect">
            <a:avLst/>
          </a:prstGeom>
          <a:noFill/>
          <a:ln/>
        </p:spPr>
        <p:txBody>
          <a:bodyPr wrap="square" rtlCol="0" anchor="t"/>
          <a:lstStyle/>
          <a:p>
            <a:r>
              <a:rPr lang="en-US" sz="1200" i="1" dirty="0">
                <a:solidFill>
                  <a:srgbClr val="7A8BA8"/>
                </a:solidFill>
                <a:latin typeface="Calibri" pitchFamily="34" charset="0"/>
                <a:ea typeface="Calibri" pitchFamily="34" charset="-122"/>
                <a:cs typeface="Calibri" pitchFamily="34" charset="-120"/>
              </a:rPr>
              <a:t>Incl. UCC, Indian &amp; Chinese</a:t>
            </a:r>
            <a:endParaRPr lang="en-US" sz="1200" dirty="0"/>
          </a:p>
          <a:p>
            <a:r>
              <a:rPr lang="en-US" sz="1200" i="1" dirty="0">
                <a:solidFill>
                  <a:srgbClr val="7A8BA8"/>
                </a:solidFill>
                <a:latin typeface="Calibri" pitchFamily="34" charset="0"/>
                <a:ea typeface="Calibri" pitchFamily="34" charset="-122"/>
                <a:cs typeface="Calibri" pitchFamily="34" charset="-120"/>
              </a:rPr>
              <a:t>research institutions</a:t>
            </a:r>
            <a:endParaRPr lang="en-US" sz="1200" dirty="0"/>
          </a:p>
        </p:txBody>
      </p:sp>
      <p:sp>
        <p:nvSpPr>
          <p:cNvPr id="52" name="Text 50"/>
          <p:cNvSpPr/>
          <p:nvPr/>
        </p:nvSpPr>
        <p:spPr>
          <a:xfrm>
            <a:off x="3328416" y="4491534"/>
            <a:ext cx="268224" cy="985113"/>
          </a:xfrm>
          <a:prstGeom prst="rect">
            <a:avLst/>
          </a:prstGeom>
          <a:noFill/>
          <a:ln/>
        </p:spPr>
        <p:txBody>
          <a:bodyPr wrap="square" rtlCol="0" anchor="ctr"/>
          <a:lstStyle/>
          <a:p>
            <a:pPr algn="ctr"/>
            <a:r>
              <a:rPr lang="en-US" sz="1733" b="1" dirty="0">
                <a:solidFill>
                  <a:srgbClr val="1A6B3A"/>
                </a:solidFill>
              </a:rPr>
              <a:t>→</a:t>
            </a:r>
            <a:endParaRPr lang="en-US" sz="1733" dirty="0"/>
          </a:p>
        </p:txBody>
      </p:sp>
      <p:sp>
        <p:nvSpPr>
          <p:cNvPr id="53" name="Text 51"/>
          <p:cNvSpPr/>
          <p:nvPr/>
        </p:nvSpPr>
        <p:spPr>
          <a:xfrm>
            <a:off x="3608832" y="4552249"/>
            <a:ext cx="4194048" cy="851001"/>
          </a:xfrm>
          <a:prstGeom prst="rect">
            <a:avLst/>
          </a:prstGeom>
          <a:noFill/>
          <a:ln/>
        </p:spPr>
        <p:txBody>
          <a:bodyPr wrap="square" rtlCol="0" anchor="ctr"/>
          <a:lstStyle/>
          <a:p>
            <a:r>
              <a:rPr lang="en-US" sz="1400" dirty="0">
                <a:solidFill>
                  <a:srgbClr val="1A2E4A"/>
                </a:solidFill>
                <a:latin typeface="Calibri" pitchFamily="34" charset="0"/>
                <a:ea typeface="Calibri" pitchFamily="34" charset="-122"/>
                <a:cs typeface="Calibri" pitchFamily="34" charset="-120"/>
              </a:rPr>
              <a:t>Incentivise international co-authorship, interdisciplinary journal publication &amp; active participation in global theoretical debates to close the volume–impact gap</a:t>
            </a:r>
            <a:endParaRPr lang="en-US" sz="1400" dirty="0"/>
          </a:p>
        </p:txBody>
      </p:sp>
      <p:sp>
        <p:nvSpPr>
          <p:cNvPr id="54" name="Text 52"/>
          <p:cNvSpPr/>
          <p:nvPr/>
        </p:nvSpPr>
        <p:spPr>
          <a:xfrm>
            <a:off x="7851648" y="4491534"/>
            <a:ext cx="292608" cy="985113"/>
          </a:xfrm>
          <a:prstGeom prst="rect">
            <a:avLst/>
          </a:prstGeom>
          <a:noFill/>
          <a:ln/>
        </p:spPr>
        <p:txBody>
          <a:bodyPr wrap="square" rtlCol="0" anchor="ctr"/>
          <a:lstStyle/>
          <a:p>
            <a:pPr algn="ctr"/>
            <a:r>
              <a:rPr lang="en-US" sz="1733" b="1" dirty="0">
                <a:solidFill>
                  <a:srgbClr val="1A6B3A"/>
                </a:solidFill>
              </a:rPr>
              <a:t>←</a:t>
            </a:r>
            <a:endParaRPr lang="en-US" sz="1733" dirty="0"/>
          </a:p>
        </p:txBody>
      </p:sp>
      <p:sp>
        <p:nvSpPr>
          <p:cNvPr id="55" name="Text 53"/>
          <p:cNvSpPr/>
          <p:nvPr/>
        </p:nvSpPr>
        <p:spPr>
          <a:xfrm>
            <a:off x="8168640" y="4515672"/>
            <a:ext cx="3730752" cy="633984"/>
          </a:xfrm>
          <a:prstGeom prst="rect">
            <a:avLst/>
          </a:prstGeom>
          <a:noFill/>
          <a:ln/>
        </p:spPr>
        <p:txBody>
          <a:bodyPr wrap="square" rtlCol="0" anchor="t"/>
          <a:lstStyle/>
          <a:p>
            <a:r>
              <a:rPr lang="en-US" sz="1200" dirty="0">
                <a:solidFill>
                  <a:srgbClr val="1A2E4A"/>
                </a:solidFill>
                <a:latin typeface="Calibri" pitchFamily="34" charset="0"/>
                <a:ea typeface="Calibri" pitchFamily="34" charset="-122"/>
                <a:cs typeface="Calibri" pitchFamily="34" charset="-120"/>
              </a:rPr>
              <a:t>India: 3,850 docs, only 15.9 avg cites/article. China: 2,752 docs, 31.5 avg cites:  vs. UK 53.1 &amp; US 46.1. High SCP ratio signals domestic orientation.</a:t>
            </a:r>
            <a:endParaRPr lang="en-US" sz="1200" dirty="0"/>
          </a:p>
        </p:txBody>
      </p:sp>
      <p:sp>
        <p:nvSpPr>
          <p:cNvPr id="56" name="Shape 54"/>
          <p:cNvSpPr/>
          <p:nvPr/>
        </p:nvSpPr>
        <p:spPr>
          <a:xfrm>
            <a:off x="8168640" y="5135271"/>
            <a:ext cx="3730752" cy="268224"/>
          </a:xfrm>
          <a:prstGeom prst="roundRect">
            <a:avLst>
              <a:gd name="adj" fmla="val 13636"/>
            </a:avLst>
          </a:prstGeom>
          <a:solidFill>
            <a:srgbClr val="EBF0F8"/>
          </a:solidFill>
          <a:ln w="9525">
            <a:solidFill>
              <a:srgbClr val="1A6B3A"/>
            </a:solidFill>
            <a:prstDash val="solid"/>
          </a:ln>
        </p:spPr>
        <p:txBody>
          <a:bodyPr/>
          <a:lstStyle/>
          <a:p>
            <a:endParaRPr lang="en-US" sz="2400"/>
          </a:p>
        </p:txBody>
      </p:sp>
      <p:sp>
        <p:nvSpPr>
          <p:cNvPr id="57" name="Text 55"/>
          <p:cNvSpPr/>
          <p:nvPr/>
        </p:nvSpPr>
        <p:spPr>
          <a:xfrm>
            <a:off x="8168640" y="5110641"/>
            <a:ext cx="3730752" cy="268224"/>
          </a:xfrm>
          <a:prstGeom prst="rect">
            <a:avLst/>
          </a:prstGeom>
          <a:noFill/>
          <a:ln/>
        </p:spPr>
        <p:txBody>
          <a:bodyPr wrap="square" lIns="0" tIns="0" rIns="0" bIns="0" rtlCol="0" anchor="ctr"/>
          <a:lstStyle/>
          <a:p>
            <a:pPr algn="ctr"/>
            <a:r>
              <a:rPr lang="en-US" sz="1200" b="1" dirty="0">
                <a:solidFill>
                  <a:srgbClr val="1A6B3A"/>
                </a:solidFill>
              </a:rPr>
              <a:t>→ Gap G5: Volume–impact imbalance</a:t>
            </a:r>
            <a:endParaRPr lang="en-US" sz="1200" dirty="0"/>
          </a:p>
        </p:txBody>
      </p:sp>
      <p:sp>
        <p:nvSpPr>
          <p:cNvPr id="58" name="Shape 56"/>
          <p:cNvSpPr/>
          <p:nvPr/>
        </p:nvSpPr>
        <p:spPr>
          <a:xfrm>
            <a:off x="268224" y="5525416"/>
            <a:ext cx="11655552" cy="985113"/>
          </a:xfrm>
          <a:prstGeom prst="rect">
            <a:avLst/>
          </a:prstGeom>
          <a:solidFill>
            <a:srgbClr val="FFFFFF"/>
          </a:solidFill>
          <a:ln w="6350">
            <a:solidFill>
              <a:srgbClr val="C5CFE0"/>
            </a:solidFill>
            <a:prstDash val="solid"/>
          </a:ln>
        </p:spPr>
        <p:txBody>
          <a:bodyPr/>
          <a:lstStyle/>
          <a:p>
            <a:endParaRPr lang="en-US" sz="2400"/>
          </a:p>
        </p:txBody>
      </p:sp>
      <p:sp>
        <p:nvSpPr>
          <p:cNvPr id="59" name="Shape 57"/>
          <p:cNvSpPr/>
          <p:nvPr/>
        </p:nvSpPr>
        <p:spPr>
          <a:xfrm>
            <a:off x="268224" y="5525416"/>
            <a:ext cx="463296" cy="985113"/>
          </a:xfrm>
          <a:prstGeom prst="rect">
            <a:avLst/>
          </a:prstGeom>
          <a:solidFill>
            <a:srgbClr val="E8B400"/>
          </a:solidFill>
          <a:ln w="12700">
            <a:solidFill>
              <a:srgbClr val="E8B400"/>
            </a:solidFill>
            <a:prstDash val="solid"/>
          </a:ln>
        </p:spPr>
        <p:txBody>
          <a:bodyPr/>
          <a:lstStyle/>
          <a:p>
            <a:endParaRPr lang="en-US" sz="2400"/>
          </a:p>
        </p:txBody>
      </p:sp>
      <p:sp>
        <p:nvSpPr>
          <p:cNvPr id="60" name="Text 58"/>
          <p:cNvSpPr/>
          <p:nvPr/>
        </p:nvSpPr>
        <p:spPr>
          <a:xfrm>
            <a:off x="268224" y="5525416"/>
            <a:ext cx="463296" cy="985113"/>
          </a:xfrm>
          <a:prstGeom prst="rect">
            <a:avLst/>
          </a:prstGeom>
          <a:noFill/>
          <a:ln/>
        </p:spPr>
        <p:txBody>
          <a:bodyPr wrap="square" lIns="0" tIns="0" rIns="0" bIns="0" rtlCol="0" anchor="ctr"/>
          <a:lstStyle/>
          <a:p>
            <a:pPr algn="ctr"/>
            <a:r>
              <a:rPr lang="en-US" sz="867" b="1" dirty="0">
                <a:solidFill>
                  <a:srgbClr val="122952"/>
                </a:solidFill>
              </a:rPr>
              <a:t>G2+G1</a:t>
            </a:r>
            <a:endParaRPr lang="en-US" sz="867" dirty="0"/>
          </a:p>
        </p:txBody>
      </p:sp>
      <p:sp>
        <p:nvSpPr>
          <p:cNvPr id="61" name="Text 59"/>
          <p:cNvSpPr/>
          <p:nvPr/>
        </p:nvSpPr>
        <p:spPr>
          <a:xfrm>
            <a:off x="780288" y="5561745"/>
            <a:ext cx="2511552" cy="487680"/>
          </a:xfrm>
          <a:prstGeom prst="rect">
            <a:avLst/>
          </a:prstGeom>
          <a:noFill/>
          <a:ln/>
        </p:spPr>
        <p:txBody>
          <a:bodyPr wrap="square" rtlCol="0" anchor="t"/>
          <a:lstStyle/>
          <a:p>
            <a:r>
              <a:rPr lang="en-US" sz="1400" b="1" dirty="0">
                <a:solidFill>
                  <a:srgbClr val="1B3A6B"/>
                </a:solidFill>
                <a:latin typeface="Calibri" pitchFamily="34" charset="0"/>
                <a:ea typeface="Calibri" pitchFamily="34" charset="-122"/>
                <a:cs typeface="Calibri" pitchFamily="34" charset="-120"/>
              </a:rPr>
              <a:t>🌐 International Orgs</a:t>
            </a:r>
            <a:endParaRPr lang="en-US" sz="1400" dirty="0"/>
          </a:p>
          <a:p>
            <a:r>
              <a:rPr lang="en-US" sz="1400" b="1" dirty="0">
                <a:solidFill>
                  <a:srgbClr val="1B3A6B"/>
                </a:solidFill>
                <a:latin typeface="Calibri" pitchFamily="34" charset="0"/>
                <a:ea typeface="Calibri" pitchFamily="34" charset="-122"/>
                <a:cs typeface="Calibri" pitchFamily="34" charset="-120"/>
              </a:rPr>
              <a:t>&amp; SDG Bodies</a:t>
            </a:r>
            <a:endParaRPr lang="en-US" sz="1400" dirty="0"/>
          </a:p>
        </p:txBody>
      </p:sp>
      <p:sp>
        <p:nvSpPr>
          <p:cNvPr id="62" name="Text 60"/>
          <p:cNvSpPr/>
          <p:nvPr/>
        </p:nvSpPr>
        <p:spPr>
          <a:xfrm>
            <a:off x="780288" y="6037233"/>
            <a:ext cx="2511552" cy="451104"/>
          </a:xfrm>
          <a:prstGeom prst="rect">
            <a:avLst/>
          </a:prstGeom>
          <a:noFill/>
          <a:ln/>
        </p:spPr>
        <p:txBody>
          <a:bodyPr wrap="square" rtlCol="0" anchor="t"/>
          <a:lstStyle/>
          <a:p>
            <a:r>
              <a:rPr lang="en-US" sz="1200" i="1" dirty="0">
                <a:solidFill>
                  <a:srgbClr val="7A8BA8"/>
                </a:solidFill>
                <a:latin typeface="Calibri" pitchFamily="34" charset="0"/>
                <a:ea typeface="Calibri" pitchFamily="34" charset="-122"/>
                <a:cs typeface="Calibri" pitchFamily="34" charset="-120"/>
              </a:rPr>
              <a:t>UN agencies, IPCC, AU Commission,</a:t>
            </a:r>
            <a:endParaRPr lang="en-US" sz="1200" dirty="0"/>
          </a:p>
          <a:p>
            <a:r>
              <a:rPr lang="en-US" sz="1200" i="1" dirty="0">
                <a:solidFill>
                  <a:srgbClr val="7A8BA8"/>
                </a:solidFill>
                <a:latin typeface="Calibri" pitchFamily="34" charset="0"/>
                <a:ea typeface="Calibri" pitchFamily="34" charset="-122"/>
                <a:cs typeface="Calibri" pitchFamily="34" charset="-120"/>
              </a:rPr>
              <a:t>SDG monitoring frameworks</a:t>
            </a:r>
            <a:endParaRPr lang="en-US" sz="1200" dirty="0"/>
          </a:p>
        </p:txBody>
      </p:sp>
      <p:sp>
        <p:nvSpPr>
          <p:cNvPr id="63" name="Text 61"/>
          <p:cNvSpPr/>
          <p:nvPr/>
        </p:nvSpPr>
        <p:spPr>
          <a:xfrm>
            <a:off x="3328416" y="5525416"/>
            <a:ext cx="268224" cy="985113"/>
          </a:xfrm>
          <a:prstGeom prst="rect">
            <a:avLst/>
          </a:prstGeom>
          <a:noFill/>
          <a:ln/>
        </p:spPr>
        <p:txBody>
          <a:bodyPr wrap="square" rtlCol="0" anchor="ctr"/>
          <a:lstStyle/>
          <a:p>
            <a:pPr algn="ctr"/>
            <a:r>
              <a:rPr lang="en-US" sz="1733" b="1" dirty="0">
                <a:solidFill>
                  <a:srgbClr val="E8B400"/>
                </a:solidFill>
              </a:rPr>
              <a:t>→</a:t>
            </a:r>
            <a:endParaRPr lang="en-US" sz="1733" dirty="0"/>
          </a:p>
        </p:txBody>
      </p:sp>
      <p:sp>
        <p:nvSpPr>
          <p:cNvPr id="64" name="Text 62"/>
          <p:cNvSpPr/>
          <p:nvPr/>
        </p:nvSpPr>
        <p:spPr>
          <a:xfrm>
            <a:off x="3608832" y="5586130"/>
            <a:ext cx="4194048" cy="851001"/>
          </a:xfrm>
          <a:prstGeom prst="rect">
            <a:avLst/>
          </a:prstGeom>
          <a:noFill/>
          <a:ln/>
        </p:spPr>
        <p:txBody>
          <a:bodyPr wrap="square" rtlCol="0" anchor="ctr"/>
          <a:lstStyle/>
          <a:p>
            <a:r>
              <a:rPr lang="en-US" sz="1400" dirty="0">
                <a:solidFill>
                  <a:srgbClr val="1A2E4A"/>
                </a:solidFill>
                <a:latin typeface="Calibri" pitchFamily="34" charset="0"/>
                <a:ea typeface="Calibri" pitchFamily="34" charset="-122"/>
                <a:cs typeface="Calibri" pitchFamily="34" charset="-120"/>
              </a:rPr>
              <a:t>Shift from siloed SDG reporting (SDG 2, 7, 13, 15) to integrated nexus dashboards capturing trade-offs &amp; synergies across food, energy &amp; environment goals</a:t>
            </a:r>
            <a:endParaRPr lang="en-US" sz="1400" dirty="0"/>
          </a:p>
        </p:txBody>
      </p:sp>
      <p:sp>
        <p:nvSpPr>
          <p:cNvPr id="65" name="Text 63"/>
          <p:cNvSpPr/>
          <p:nvPr/>
        </p:nvSpPr>
        <p:spPr>
          <a:xfrm>
            <a:off x="7851648" y="5525416"/>
            <a:ext cx="292608" cy="985113"/>
          </a:xfrm>
          <a:prstGeom prst="rect">
            <a:avLst/>
          </a:prstGeom>
          <a:noFill/>
          <a:ln/>
        </p:spPr>
        <p:txBody>
          <a:bodyPr wrap="square" rtlCol="0" anchor="ctr"/>
          <a:lstStyle/>
          <a:p>
            <a:pPr algn="ctr"/>
            <a:r>
              <a:rPr lang="en-US" sz="1733" b="1" dirty="0">
                <a:solidFill>
                  <a:srgbClr val="E8B400"/>
                </a:solidFill>
              </a:rPr>
              <a:t>←</a:t>
            </a:r>
            <a:endParaRPr lang="en-US" sz="1733" dirty="0"/>
          </a:p>
        </p:txBody>
      </p:sp>
      <p:sp>
        <p:nvSpPr>
          <p:cNvPr id="66" name="Text 64"/>
          <p:cNvSpPr/>
          <p:nvPr/>
        </p:nvSpPr>
        <p:spPr>
          <a:xfrm>
            <a:off x="8168640" y="5549553"/>
            <a:ext cx="3730752" cy="633984"/>
          </a:xfrm>
          <a:prstGeom prst="rect">
            <a:avLst/>
          </a:prstGeom>
          <a:noFill/>
          <a:ln/>
        </p:spPr>
        <p:txBody>
          <a:bodyPr wrap="square" rtlCol="0" anchor="t"/>
          <a:lstStyle/>
          <a:p>
            <a:r>
              <a:rPr lang="en-US" sz="1200" dirty="0">
                <a:solidFill>
                  <a:srgbClr val="1A2E4A"/>
                </a:solidFill>
                <a:latin typeface="Calibri" pitchFamily="34" charset="0"/>
                <a:ea typeface="Calibri" pitchFamily="34" charset="-122"/>
                <a:cs typeface="Calibri" pitchFamily="34" charset="-120"/>
              </a:rPr>
              <a:t>Publication surge 9× after SDG/Paris adoption (2015). Thematic fragmentation shows nexus logic not yet in SDG monitoring; SDG 2, 7, 13 &amp; 15 reported as silos.</a:t>
            </a:r>
            <a:endParaRPr lang="en-US" sz="1200" dirty="0"/>
          </a:p>
        </p:txBody>
      </p:sp>
      <p:sp>
        <p:nvSpPr>
          <p:cNvPr id="67" name="Shape 65"/>
          <p:cNvSpPr/>
          <p:nvPr/>
        </p:nvSpPr>
        <p:spPr>
          <a:xfrm>
            <a:off x="8168640" y="6169152"/>
            <a:ext cx="3730752" cy="268224"/>
          </a:xfrm>
          <a:prstGeom prst="roundRect">
            <a:avLst>
              <a:gd name="adj" fmla="val 13636"/>
            </a:avLst>
          </a:prstGeom>
          <a:solidFill>
            <a:srgbClr val="FFF3CC"/>
          </a:solidFill>
          <a:ln w="9525">
            <a:solidFill>
              <a:srgbClr val="E8B400"/>
            </a:solidFill>
            <a:prstDash val="solid"/>
          </a:ln>
        </p:spPr>
        <p:txBody>
          <a:bodyPr/>
          <a:lstStyle/>
          <a:p>
            <a:endParaRPr lang="en-US" sz="2400"/>
          </a:p>
        </p:txBody>
      </p:sp>
      <p:sp>
        <p:nvSpPr>
          <p:cNvPr id="68" name="Text 66"/>
          <p:cNvSpPr/>
          <p:nvPr/>
        </p:nvSpPr>
        <p:spPr>
          <a:xfrm>
            <a:off x="8168640" y="6144523"/>
            <a:ext cx="3730752" cy="268224"/>
          </a:xfrm>
          <a:prstGeom prst="rect">
            <a:avLst/>
          </a:prstGeom>
          <a:noFill/>
          <a:ln/>
        </p:spPr>
        <p:txBody>
          <a:bodyPr wrap="square" lIns="0" tIns="0" rIns="0" bIns="0" rtlCol="0" anchor="ctr"/>
          <a:lstStyle/>
          <a:p>
            <a:pPr algn="ctr"/>
            <a:r>
              <a:rPr lang="en-US" sz="1200" b="1" dirty="0">
                <a:solidFill>
                  <a:srgbClr val="122952"/>
                </a:solidFill>
              </a:rPr>
              <a:t>→ Gaps G1+G2: Thematic instability &amp; missing framework</a:t>
            </a:r>
            <a:endParaRPr lang="en-US" sz="1200" dirty="0"/>
          </a:p>
        </p:txBody>
      </p:sp>
      <p:sp>
        <p:nvSpPr>
          <p:cNvPr id="69" name="Shape 67"/>
          <p:cNvSpPr/>
          <p:nvPr/>
        </p:nvSpPr>
        <p:spPr>
          <a:xfrm>
            <a:off x="0" y="6620256"/>
            <a:ext cx="12192000" cy="24384"/>
          </a:xfrm>
          <a:prstGeom prst="rect">
            <a:avLst/>
          </a:prstGeom>
          <a:solidFill>
            <a:srgbClr val="E8B400"/>
          </a:solidFill>
          <a:ln w="12700">
            <a:solidFill>
              <a:srgbClr val="E8B400"/>
            </a:solidFill>
            <a:prstDash val="solid"/>
          </a:ln>
        </p:spPr>
        <p:txBody>
          <a:bodyPr/>
          <a:lstStyle/>
          <a:p>
            <a:endParaRPr lang="en-US" sz="2400"/>
          </a:p>
        </p:txBody>
      </p:sp>
      <p:sp>
        <p:nvSpPr>
          <p:cNvPr id="70" name="Shape 68"/>
          <p:cNvSpPr/>
          <p:nvPr/>
        </p:nvSpPr>
        <p:spPr>
          <a:xfrm>
            <a:off x="0" y="6644640"/>
            <a:ext cx="12192000" cy="213360"/>
          </a:xfrm>
          <a:prstGeom prst="rect">
            <a:avLst/>
          </a:prstGeom>
          <a:solidFill>
            <a:srgbClr val="122952"/>
          </a:solidFill>
          <a:ln w="12700">
            <a:solidFill>
              <a:srgbClr val="122952"/>
            </a:solidFill>
            <a:prstDash val="solid"/>
          </a:ln>
        </p:spPr>
        <p:txBody>
          <a:bodyPr/>
          <a:lstStyle/>
          <a:p>
            <a:endParaRPr lang="en-US" sz="2400"/>
          </a:p>
        </p:txBody>
      </p:sp>
      <p:sp>
        <p:nvSpPr>
          <p:cNvPr id="71" name="Text 69"/>
          <p:cNvSpPr/>
          <p:nvPr/>
        </p:nvSpPr>
        <p:spPr>
          <a:xfrm>
            <a:off x="0" y="6644640"/>
            <a:ext cx="12192000" cy="213360"/>
          </a:xfrm>
          <a:prstGeom prst="rect">
            <a:avLst/>
          </a:prstGeom>
          <a:noFill/>
          <a:ln/>
        </p:spPr>
        <p:txBody>
          <a:bodyPr wrap="square" rtlCol="0" anchor="ctr"/>
          <a:lstStyle/>
          <a:p>
            <a:pPr algn="ctr"/>
            <a:r>
              <a:rPr lang="en-US" sz="1067" dirty="0">
                <a:solidFill>
                  <a:srgbClr val="C5CFE0"/>
                </a:solidFill>
              </a:rPr>
              <a:t>University of Cape Coast  •  Veritas Nobis Lumen  |  Truth, Our Guide</a:t>
            </a:r>
            <a:endParaRPr lang="en-US" sz="1067" dirty="0"/>
          </a:p>
        </p:txBody>
      </p:sp>
    </p:spTree>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2536</TotalTime>
  <Words>1263</Words>
  <Application>Microsoft Office PowerPoint</Application>
  <PresentationFormat>Widescreen</PresentationFormat>
  <Paragraphs>211</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Calibri</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Corban Enam  Bubutor</dc:creator>
  <cp:lastModifiedBy>Corban Enam  Bubutor</cp:lastModifiedBy>
  <cp:revision>16</cp:revision>
  <dcterms:created xsi:type="dcterms:W3CDTF">2026-06-08T13:35:34Z</dcterms:created>
  <dcterms:modified xsi:type="dcterms:W3CDTF">2026-06-27T18:27:29Z</dcterms:modified>
</cp:coreProperties>
</file>